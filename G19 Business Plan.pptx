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0" r:id="rId5"/>
    <p:sldId id="261" r:id="rId6"/>
    <p:sldId id="262" r:id="rId7"/>
    <p:sldId id="263" r:id="rId8"/>
    <p:sldId id="264" r:id="rId9"/>
    <p:sldId id="265" r:id="rId10"/>
    <p:sldId id="25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22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总结一下，PlanTogether的可行性取决于一个非常具体的问题：组织者能否通过一份共享计划，更快收齐信息并让同行者完成决定。我们不需要先拥有外部平台的数据，就能用最小成本验证这个价值。我们希望寻找认同这一理念的合作伙伴，一起把分散的旅行灵感，变成美好的共同记忆。以上就是我今天的全部分享，感谢大家的聆听，接下来欢迎大家提问交流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3" Type="http://schemas.openxmlformats.org/officeDocument/2006/relationships/notesSlide" Target="../notesSlides/notesSlide4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1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54.xml"/><Relationship Id="rId23" Type="http://schemas.openxmlformats.org/officeDocument/2006/relationships/tags" Target="../tags/tag53.xml"/><Relationship Id="rId22" Type="http://schemas.openxmlformats.org/officeDocument/2006/relationships/tags" Target="../tags/tag52.xml"/><Relationship Id="rId21" Type="http://schemas.openxmlformats.org/officeDocument/2006/relationships/tags" Target="../tags/tag51.xml"/><Relationship Id="rId20" Type="http://schemas.openxmlformats.org/officeDocument/2006/relationships/tags" Target="../tags/tag50.xml"/><Relationship Id="rId2" Type="http://schemas.openxmlformats.org/officeDocument/2006/relationships/tags" Target="../tags/tag32.xml"/><Relationship Id="rId19" Type="http://schemas.openxmlformats.org/officeDocument/2006/relationships/tags" Target="../tags/tag49.xml"/><Relationship Id="rId18" Type="http://schemas.openxmlformats.org/officeDocument/2006/relationships/tags" Target="../tags/tag48.xml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0" Type="http://schemas.openxmlformats.org/officeDocument/2006/relationships/notesSlide" Target="../notesSlides/notesSlide6.xml"/><Relationship Id="rId3" Type="http://schemas.openxmlformats.org/officeDocument/2006/relationships/tags" Target="../tags/tag57.xml"/><Relationship Id="rId29" Type="http://schemas.openxmlformats.org/officeDocument/2006/relationships/slideLayout" Target="../slideLayouts/slideLayout7.xml"/><Relationship Id="rId28" Type="http://schemas.openxmlformats.org/officeDocument/2006/relationships/tags" Target="../tags/tag82.xml"/><Relationship Id="rId27" Type="http://schemas.openxmlformats.org/officeDocument/2006/relationships/tags" Target="../tags/tag81.xml"/><Relationship Id="rId26" Type="http://schemas.openxmlformats.org/officeDocument/2006/relationships/tags" Target="../tags/tag80.xml"/><Relationship Id="rId25" Type="http://schemas.openxmlformats.org/officeDocument/2006/relationships/tags" Target="../tags/tag79.xml"/><Relationship Id="rId24" Type="http://schemas.openxmlformats.org/officeDocument/2006/relationships/tags" Target="../tags/tag78.xml"/><Relationship Id="rId23" Type="http://schemas.openxmlformats.org/officeDocument/2006/relationships/tags" Target="../tags/tag77.xml"/><Relationship Id="rId22" Type="http://schemas.openxmlformats.org/officeDocument/2006/relationships/tags" Target="../tags/tag76.xml"/><Relationship Id="rId21" Type="http://schemas.openxmlformats.org/officeDocument/2006/relationships/tags" Target="../tags/tag75.xml"/><Relationship Id="rId20" Type="http://schemas.openxmlformats.org/officeDocument/2006/relationships/tags" Target="../tags/tag74.xml"/><Relationship Id="rId2" Type="http://schemas.openxmlformats.org/officeDocument/2006/relationships/tags" Target="../tags/tag56.xml"/><Relationship Id="rId19" Type="http://schemas.openxmlformats.org/officeDocument/2006/relationships/tags" Target="../tags/tag73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tags" Target="../tags/tag5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B">
              <a:alpha val="30196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2005851" y="2143721"/>
            <a:ext cx="8177252" cy="150852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7F8FA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PlanTogether</a:t>
            </a:r>
            <a:endParaRPr lang="en-US" sz="1100"/>
          </a:p>
          <a:p>
            <a:pPr algn="ctr"/>
            <a:r>
              <a:rPr sz="5400" b="1" i="0" strike="noStrike">
                <a:solidFill>
                  <a:srgbClr val="F7F8FA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多人出游助手</a:t>
            </a:r>
            <a:endParaRPr sz="5400" b="1" i="0" strike="noStrike">
              <a:solidFill>
                <a:srgbClr val="F7F8FA">
                  <a:alpha val="100000"/>
                </a:srgbClr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66458" y="3918942"/>
            <a:ext cx="8856035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F7F8FA">
                    <a:alpha val="87843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把分散的灵感、地点与同行意见，整理成一份大家都看得懂的行程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A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Product Overview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429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C20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产品概览与核心定位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33500"/>
            <a:ext cx="9522" cy="649486"/>
          </a:xfrm>
          <a:prstGeom prst="line">
            <a:avLst/>
          </a:prstGeom>
          <a:ln w="9525">
            <a:solidFill>
              <a:srgbClr val="4A7FD7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80880" y="13716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PlanTogether 定位为轻量级旅行规划与协作层，不替代现有内容或票务平台，而是通过整合用户手动提交的链接与灵感，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解决多人出游中信息散落、决策反复确认的核心痛点。</a:t>
            </a:r>
            <a:endParaRPr sz="1600" b="0" i="1" strike="noStrike">
              <a:solidFill>
                <a:srgbClr val="1A1C20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457086" y="2644973"/>
            <a:ext cx="4570857" cy="304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TextBox 8"/>
          <p:cNvSpPr txBox="1"/>
          <p:nvPr/>
        </p:nvSpPr>
        <p:spPr>
          <a:xfrm>
            <a:off x="457086" y="5778698"/>
            <a:ext cx="457085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多人结伴出游的真实协作场景</a:t>
            </a:r>
            <a:endParaRPr lang="en-US" sz="1100"/>
          </a:p>
        </p:txBody>
      </p:sp>
      <p:sp>
        <p:nvSpPr>
          <p:cNvPr id="9" name="TextBox 9"/>
          <p:cNvSpPr txBox="1"/>
          <p:nvPr>
            <p:custDataLst>
              <p:tags r:id="rId2"/>
            </p:custDataLst>
          </p:nvPr>
        </p:nvSpPr>
        <p:spPr>
          <a:xfrm>
            <a:off x="5504073" y="2498378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01</a:t>
            </a:r>
            <a:endParaRPr lang="en-US" sz="1100"/>
          </a:p>
        </p:txBody>
      </p:sp>
      <p:sp>
        <p:nvSpPr>
          <p:cNvPr id="10" name="TextBox 10"/>
          <p:cNvSpPr txBox="1"/>
          <p:nvPr>
            <p:custDataLst>
              <p:tags r:id="rId3"/>
            </p:custDataLst>
          </p:nvPr>
        </p:nvSpPr>
        <p:spPr>
          <a:xfrm>
            <a:off x="5816385" y="2517428"/>
            <a:ext cx="5744073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聚焦多人协作痛点</a:t>
            </a:r>
            <a:endParaRPr lang="en-US" sz="1100"/>
          </a:p>
        </p:txBody>
      </p:sp>
      <p:sp>
        <p:nvSpPr>
          <p:cNvPr id="11" name="TextBox 11"/>
          <p:cNvSpPr txBox="1"/>
          <p:nvPr>
            <p:custDataLst>
              <p:tags r:id="rId4"/>
            </p:custDataLst>
          </p:nvPr>
        </p:nvSpPr>
        <p:spPr>
          <a:xfrm>
            <a:off x="5816385" y="2789784"/>
            <a:ext cx="5744073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针对3-8人结伴出游场景，将散落在地图、点评、短视频等平台的灵感链接集中归档，避免群聊翻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C20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找与重复确认</a:t>
            </a:r>
            <a:endParaRPr sz="1000" b="0" i="0" strike="noStrike">
              <a:solidFill>
                <a:srgbClr val="1A1C20">
                  <a:alpha val="72156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5"/>
            </p:custDataLst>
          </p:nvPr>
        </p:nvSpPr>
        <p:spPr>
          <a:xfrm>
            <a:off x="5504073" y="3951982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02</a:t>
            </a:r>
            <a:endParaRPr lang="en-US" sz="1100"/>
          </a:p>
        </p:txBody>
      </p:sp>
      <p:sp>
        <p:nvSpPr>
          <p:cNvPr id="13" name="TextBox 13"/>
          <p:cNvSpPr txBox="1"/>
          <p:nvPr>
            <p:custDataLst>
              <p:tags r:id="rId6"/>
            </p:custDataLst>
          </p:nvPr>
        </p:nvSpPr>
        <p:spPr>
          <a:xfrm>
            <a:off x="5816385" y="3971032"/>
            <a:ext cx="5744073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明确产品使用边界</a:t>
            </a:r>
            <a:endParaRPr lang="en-US" sz="1100"/>
          </a:p>
        </p:txBody>
      </p:sp>
      <p:sp>
        <p:nvSpPr>
          <p:cNvPr id="14" name="TextBox 14"/>
          <p:cNvSpPr txBox="1"/>
          <p:nvPr>
            <p:custDataLst>
              <p:tags r:id="rId7"/>
            </p:custDataLst>
          </p:nvPr>
        </p:nvSpPr>
        <p:spPr>
          <a:xfrm>
            <a:off x="5816385" y="4243388"/>
            <a:ext cx="5744073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当前MVP不依赖外部平台授权接口，不提供自动抓取、实时票价或代订服务，专注于行程结构与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C20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群体决策的整合</a:t>
            </a:r>
            <a:endParaRPr sz="1000" b="0" i="0" strike="noStrike">
              <a:solidFill>
                <a:srgbClr val="1A1C20">
                  <a:alpha val="72156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5" name="TextBox 15"/>
          <p:cNvSpPr txBox="1"/>
          <p:nvPr>
            <p:custDataLst>
              <p:tags r:id="rId8"/>
            </p:custDataLst>
          </p:nvPr>
        </p:nvSpPr>
        <p:spPr>
          <a:xfrm>
            <a:off x="5504073" y="5405586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03</a:t>
            </a:r>
            <a:endParaRPr lang="en-US" sz="1100"/>
          </a:p>
        </p:txBody>
      </p:sp>
      <p:sp>
        <p:nvSpPr>
          <p:cNvPr id="16" name="TextBox 16"/>
          <p:cNvSpPr txBox="1"/>
          <p:nvPr>
            <p:custDataLst>
              <p:tags r:id="rId9"/>
            </p:custDataLst>
          </p:nvPr>
        </p:nvSpPr>
        <p:spPr>
          <a:xfrm>
            <a:off x="5816385" y="5424636"/>
            <a:ext cx="5744073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核心价值主张</a:t>
            </a:r>
            <a:endParaRPr lang="en-US" sz="1100"/>
          </a:p>
        </p:txBody>
      </p:sp>
      <p:sp>
        <p:nvSpPr>
          <p:cNvPr id="17" name="TextBox 17"/>
          <p:cNvSpPr txBox="1"/>
          <p:nvPr>
            <p:custDataLst>
              <p:tags r:id="rId10"/>
            </p:custDataLst>
          </p:nvPr>
        </p:nvSpPr>
        <p:spPr>
          <a:xfrm>
            <a:off x="5816385" y="5696991"/>
            <a:ext cx="5770707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保留灵感出处与来源链接，由用户主导信息提交与补充，让同行者在统一的共享空间内完成地点安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C20">
                    <a:alpha val="72156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排与时间规划</a:t>
            </a:r>
            <a:endParaRPr sz="1000" b="0" i="0" strike="noStrike">
              <a:solidFill>
                <a:srgbClr val="1A1C20">
                  <a:alpha val="72156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E0E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A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PRODUCT ARCHITECTURE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C20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核心功能模块与用户流程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333500"/>
            <a:ext cx="9522" cy="649486"/>
          </a:xfrm>
          <a:prstGeom prst="line">
            <a:avLst/>
          </a:prstGeom>
          <a:ln w="9525">
            <a:solidFill>
              <a:srgbClr val="4A7FD7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1"/>
          <p:nvPr/>
        </p:nvSpPr>
        <p:spPr>
          <a:xfrm>
            <a:off x="580880" y="13716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产品围绕"一次旅行"构建协作空间，通过灵感收集、行程规划、地图可视化与群体决策四大核心模块，实现从碎片化信息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到可执行计划的完整闭环。</a:t>
            </a:r>
            <a:endParaRPr sz="1600" b="0" i="1" strike="noStrike">
              <a:solidFill>
                <a:srgbClr val="1A1C20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7086" y="2192536"/>
            <a:ext cx="548502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4A7FD7">
                    <a:alpha val="8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核心功能矩阵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7086" y="2473523"/>
            <a:ext cx="5485028" cy="1239291"/>
          </a:xfrm>
          <a:prstGeom prst="rect">
            <a:avLst/>
          </a:prstGeom>
          <a:solidFill>
            <a:srgbClr val="ECEEF2">
              <a:alpha val="100000"/>
            </a:srgbClr>
          </a:solidFill>
          <a:ln w="9525">
            <a:solidFill>
              <a:srgbClr val="D0D4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457086" y="2473523"/>
            <a:ext cx="5485028" cy="9525"/>
          </a:xfrm>
          <a:prstGeom prst="line">
            <a:avLst/>
          </a:prstGeom>
          <a:ln w="19050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638015" y="2888308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01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931282" y="2897833"/>
            <a:ext cx="482990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旅行空间与灵感收集：</a:t>
            </a:r>
            <a:r>
              <a:rPr sz="1100" b="0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建立专属旅行空间，支持用户手动录入或粘贴外部链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接，保留来源平台与自定义标签</a:t>
            </a:r>
            <a:endParaRPr sz="1100" b="0" i="0" strike="noStrike">
              <a:solidFill>
                <a:srgbClr val="1A1C20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57086" y="3827116"/>
            <a:ext cx="5485028" cy="1229766"/>
          </a:xfrm>
          <a:prstGeom prst="rect">
            <a:avLst/>
          </a:prstGeom>
          <a:solidFill>
            <a:srgbClr val="ECEEF2">
              <a:alpha val="100000"/>
            </a:srgbClr>
          </a:solidFill>
          <a:ln w="9525">
            <a:solidFill>
              <a:srgbClr val="D0D4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1"/>
          <p:nvPr/>
        </p:nvSpPr>
        <p:spPr>
          <a:xfrm>
            <a:off x="638015" y="4232374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02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931282" y="4241899"/>
            <a:ext cx="482990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地点行程与地图视图：</a:t>
            </a:r>
            <a:r>
              <a:rPr sz="1100" b="0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手动创建地点并预估费用，在自有地图上展示标记与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路线草图，直观呈现计划顺序</a:t>
            </a:r>
            <a:endParaRPr sz="1100" b="0" i="0" strike="noStrike">
              <a:solidFill>
                <a:srgbClr val="1A1C20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57086" y="5171182"/>
            <a:ext cx="5485028" cy="1229766"/>
          </a:xfrm>
          <a:prstGeom prst="rect">
            <a:avLst/>
          </a:prstGeom>
          <a:solidFill>
            <a:srgbClr val="ECEEF2">
              <a:alpha val="100000"/>
            </a:srgbClr>
          </a:solidFill>
          <a:ln w="9525">
            <a:solidFill>
              <a:srgbClr val="D0D4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Box 17"/>
          <p:cNvSpPr txBox="1"/>
          <p:nvPr/>
        </p:nvSpPr>
        <p:spPr>
          <a:xfrm>
            <a:off x="638015" y="5576440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03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931282" y="5585965"/>
            <a:ext cx="482990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协作决策与预算清单：</a:t>
            </a:r>
            <a:r>
              <a:rPr sz="1100" b="0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提供评论、投票与状态标记功能，支持手动登记各项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预算，降低组织者协调成本</a:t>
            </a:r>
            <a:endParaRPr sz="1100" b="0" i="0" strike="noStrike">
              <a:solidFill>
                <a:srgbClr val="1A1C20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246838" y="2192536"/>
            <a:ext cx="548502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4A7FD7">
                    <a:alpha val="8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典型用户流程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46838" y="2473523"/>
            <a:ext cx="5485028" cy="1239291"/>
          </a:xfrm>
          <a:prstGeom prst="rect">
            <a:avLst/>
          </a:prstGeom>
          <a:solidFill>
            <a:srgbClr val="ECEEF2">
              <a:alpha val="100000"/>
            </a:srgbClr>
          </a:solidFill>
          <a:ln w="9525">
            <a:solidFill>
              <a:srgbClr val="D0D4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AutoShape 21"/>
          <p:cNvSpPr/>
          <p:nvPr/>
        </p:nvSpPr>
        <p:spPr>
          <a:xfrm>
            <a:off x="6246838" y="2473523"/>
            <a:ext cx="5485028" cy="9525"/>
          </a:xfrm>
          <a:prstGeom prst="line">
            <a:avLst/>
          </a:prstGeom>
          <a:ln w="19050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Box 22"/>
          <p:cNvSpPr txBox="1"/>
          <p:nvPr/>
        </p:nvSpPr>
        <p:spPr>
          <a:xfrm>
            <a:off x="6427767" y="2888308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01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6721034" y="2897833"/>
            <a:ext cx="482990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建立与收集：</a:t>
            </a:r>
            <a:r>
              <a:rPr sz="1100" b="0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组织者创建空间并分享邀请，成员将各平台灵感链接汇聚至空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间，系统按来源或标签自动汇总</a:t>
            </a:r>
            <a:endParaRPr sz="1100" b="0" i="0" strike="noStrike">
              <a:solidFill>
                <a:srgbClr val="1A1C20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246838" y="3827116"/>
            <a:ext cx="5485028" cy="1229766"/>
          </a:xfrm>
          <a:prstGeom prst="rect">
            <a:avLst/>
          </a:prstGeom>
          <a:solidFill>
            <a:srgbClr val="ECEEF2">
              <a:alpha val="100000"/>
            </a:srgbClr>
          </a:solidFill>
          <a:ln w="9525">
            <a:solidFill>
              <a:srgbClr val="D0D4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TextBox 25"/>
          <p:cNvSpPr txBox="1"/>
          <p:nvPr/>
        </p:nvSpPr>
        <p:spPr>
          <a:xfrm>
            <a:off x="6427767" y="4232374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02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721034" y="4241899"/>
            <a:ext cx="482990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整理与协商：</a:t>
            </a:r>
            <a:r>
              <a:rPr sz="1100" b="0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组织者将链接转化为具体地点与时间安排，成员通过投票和评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论确认主备选项，避免重复询问</a:t>
            </a:r>
            <a:endParaRPr sz="1100" b="0" i="0" strike="noStrike">
              <a:solidFill>
                <a:srgbClr val="1A1C20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246838" y="5171182"/>
            <a:ext cx="5485028" cy="1229766"/>
          </a:xfrm>
          <a:prstGeom prst="rect">
            <a:avLst/>
          </a:prstGeom>
          <a:solidFill>
            <a:srgbClr val="ECEEF2">
              <a:alpha val="100000"/>
            </a:srgbClr>
          </a:solidFill>
          <a:ln w="9525">
            <a:solidFill>
              <a:srgbClr val="D0D4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TextBox 28"/>
          <p:cNvSpPr txBox="1"/>
          <p:nvPr/>
        </p:nvSpPr>
        <p:spPr>
          <a:xfrm>
            <a:off x="6427767" y="5576440"/>
            <a:ext cx="198041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45098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03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6721034" y="5585965"/>
            <a:ext cx="482990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出行与执行：</a:t>
            </a:r>
            <a:r>
              <a:rPr sz="1100" b="0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团队查看最终行程与地图标记，需导航或购票时自行跳转至外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85098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部对应服务完成交易</a:t>
            </a:r>
            <a:endParaRPr sz="1100" b="0" i="0" strike="noStrike">
              <a:solidFill>
                <a:srgbClr val="1A1C20">
                  <a:alpha val="85098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5E5E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A">
              <a:alpha val="100000"/>
            </a:srgbClr>
          </a:solidFill>
          <a:ln>
            <a:headEnd type="none"/>
            <a:tailEnd type="none"/>
          </a:ln>
        </p:spPr>
        <p:txBody>
          <a:bodyPr/>
          <a:p>
            <a:endParaRPr lang="zh-CN" altLang="en-US"/>
          </a:p>
        </p:txBody>
      </p:sp>
      <p:sp>
        <p:nvSpPr>
          <p:cNvPr id="4" name="TextBox 4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Competitive Edge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810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C20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独特价值与竞争差异化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371600"/>
            <a:ext cx="9522" cy="649486"/>
          </a:xfrm>
          <a:prstGeom prst="line">
            <a:avLst/>
          </a:prstGeom>
          <a:ln w="9525">
            <a:solidFill>
              <a:srgbClr val="4A7FD7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1"/>
          <p:nvPr/>
        </p:nvSpPr>
        <p:spPr>
          <a:xfrm>
            <a:off x="599925" y="140970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PlanTogether 的护城河在于"多人协商"工作流的深度整合，而非外部内容的占有。通过来源透明、规划与执行衔接以及轻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量启动，在群聊和通用文档等替代方案中建立差异化优势。</a:t>
            </a:r>
            <a:endParaRPr sz="1600" b="0" i="1" strike="noStrike">
              <a:solidFill>
                <a:srgbClr val="1A1C20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457086" y="2211586"/>
            <a:ext cx="5551687" cy="2008882"/>
          </a:xfrm>
          <a:prstGeom prst="rect">
            <a:avLst/>
          </a:prstGeom>
          <a:solidFill>
            <a:srgbClr val="EAECEF">
              <a:alpha val="100000"/>
            </a:srgbClr>
          </a:solidFill>
          <a:ln w="9525">
            <a:solidFill>
              <a:srgbClr val="CDD1D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457086" y="2211586"/>
            <a:ext cx="5551687" cy="9525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>
            <p:custDataLst>
              <p:tags r:id="rId3"/>
            </p:custDataLst>
          </p:nvPr>
        </p:nvSpPr>
        <p:spPr>
          <a:xfrm>
            <a:off x="733242" y="24687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952" y="10000"/>
                </a:moveTo>
                <a:lnTo>
                  <a:pt x="0" y="10000"/>
                </a:lnTo>
                <a:cubicBezTo>
                  <a:pt x="0" y="9308"/>
                  <a:pt x="174" y="8666"/>
                  <a:pt x="524" y="8076"/>
                </a:cubicBezTo>
                <a:cubicBezTo>
                  <a:pt x="860" y="7504"/>
                  <a:pt x="1313" y="7050"/>
                  <a:pt x="1885" y="6714"/>
                </a:cubicBezTo>
                <a:cubicBezTo>
                  <a:pt x="2475" y="6364"/>
                  <a:pt x="3117" y="6190"/>
                  <a:pt x="3809" y="6190"/>
                </a:cubicBezTo>
                <a:cubicBezTo>
                  <a:pt x="4501" y="6190"/>
                  <a:pt x="5142" y="6364"/>
                  <a:pt x="5732" y="6714"/>
                </a:cubicBezTo>
                <a:cubicBezTo>
                  <a:pt x="6303" y="7050"/>
                  <a:pt x="6757" y="7504"/>
                  <a:pt x="7094" y="8076"/>
                </a:cubicBezTo>
                <a:cubicBezTo>
                  <a:pt x="7443" y="8666"/>
                  <a:pt x="7618" y="9308"/>
                  <a:pt x="7618" y="10000"/>
                </a:cubicBezTo>
                <a:lnTo>
                  <a:pt x="6665" y="10000"/>
                </a:lnTo>
                <a:cubicBezTo>
                  <a:pt x="6665" y="9486"/>
                  <a:pt x="6535" y="9006"/>
                  <a:pt x="6275" y="8562"/>
                </a:cubicBezTo>
                <a:cubicBezTo>
                  <a:pt x="6021" y="8130"/>
                  <a:pt x="5678" y="7787"/>
                  <a:pt x="5247" y="7533"/>
                </a:cubicBezTo>
                <a:cubicBezTo>
                  <a:pt x="4802" y="7273"/>
                  <a:pt x="4323" y="7143"/>
                  <a:pt x="3809" y="7143"/>
                </a:cubicBezTo>
                <a:cubicBezTo>
                  <a:pt x="3294" y="7143"/>
                  <a:pt x="2815" y="7273"/>
                  <a:pt x="2371" y="7533"/>
                </a:cubicBezTo>
                <a:cubicBezTo>
                  <a:pt x="1939" y="7787"/>
                  <a:pt x="1596" y="8130"/>
                  <a:pt x="1343" y="8562"/>
                </a:cubicBezTo>
                <a:cubicBezTo>
                  <a:pt x="1082" y="9006"/>
                  <a:pt x="952" y="9486"/>
                  <a:pt x="952" y="10000"/>
                </a:cubicBezTo>
                <a:moveTo>
                  <a:pt x="3809" y="5714"/>
                </a:moveTo>
                <a:cubicBezTo>
                  <a:pt x="3288" y="5714"/>
                  <a:pt x="2809" y="5584"/>
                  <a:pt x="2371" y="5324"/>
                </a:cubicBezTo>
                <a:cubicBezTo>
                  <a:pt x="1939" y="5070"/>
                  <a:pt x="1596" y="4727"/>
                  <a:pt x="1343" y="4295"/>
                </a:cubicBezTo>
                <a:cubicBezTo>
                  <a:pt x="1082" y="3857"/>
                  <a:pt x="952" y="3377"/>
                  <a:pt x="952" y="2857"/>
                </a:cubicBezTo>
                <a:cubicBezTo>
                  <a:pt x="952" y="2336"/>
                  <a:pt x="1082" y="1857"/>
                  <a:pt x="1343" y="1419"/>
                </a:cubicBezTo>
                <a:cubicBezTo>
                  <a:pt x="1596" y="987"/>
                  <a:pt x="1939" y="644"/>
                  <a:pt x="2371" y="390"/>
                </a:cubicBezTo>
                <a:cubicBezTo>
                  <a:pt x="2809" y="130"/>
                  <a:pt x="3288" y="0"/>
                  <a:pt x="3809" y="0"/>
                </a:cubicBezTo>
                <a:cubicBezTo>
                  <a:pt x="4329" y="0"/>
                  <a:pt x="4809" y="130"/>
                  <a:pt x="5247" y="390"/>
                </a:cubicBezTo>
                <a:cubicBezTo>
                  <a:pt x="5678" y="644"/>
                  <a:pt x="6021" y="987"/>
                  <a:pt x="6275" y="1419"/>
                </a:cubicBezTo>
                <a:cubicBezTo>
                  <a:pt x="6535" y="1857"/>
                  <a:pt x="6665" y="2336"/>
                  <a:pt x="6665" y="2857"/>
                </a:cubicBezTo>
                <a:cubicBezTo>
                  <a:pt x="6665" y="3377"/>
                  <a:pt x="6535" y="3857"/>
                  <a:pt x="6275" y="4295"/>
                </a:cubicBezTo>
                <a:cubicBezTo>
                  <a:pt x="6021" y="4727"/>
                  <a:pt x="5678" y="5070"/>
                  <a:pt x="5247" y="5324"/>
                </a:cubicBezTo>
                <a:cubicBezTo>
                  <a:pt x="4809" y="5584"/>
                  <a:pt x="4329" y="5714"/>
                  <a:pt x="3809" y="5714"/>
                </a:cubicBezTo>
                <a:moveTo>
                  <a:pt x="3809" y="4762"/>
                </a:moveTo>
                <a:cubicBezTo>
                  <a:pt x="4151" y="4762"/>
                  <a:pt x="4469" y="4676"/>
                  <a:pt x="4761" y="4505"/>
                </a:cubicBezTo>
                <a:cubicBezTo>
                  <a:pt x="5053" y="4333"/>
                  <a:pt x="5284" y="4102"/>
                  <a:pt x="5456" y="3810"/>
                </a:cubicBezTo>
                <a:cubicBezTo>
                  <a:pt x="5627" y="3517"/>
                  <a:pt x="5713" y="3199"/>
                  <a:pt x="5713" y="2857"/>
                </a:cubicBezTo>
                <a:cubicBezTo>
                  <a:pt x="5713" y="2514"/>
                  <a:pt x="5627" y="2197"/>
                  <a:pt x="5456" y="1905"/>
                </a:cubicBezTo>
                <a:cubicBezTo>
                  <a:pt x="5284" y="1613"/>
                  <a:pt x="5053" y="1381"/>
                  <a:pt x="4761" y="1210"/>
                </a:cubicBezTo>
                <a:cubicBezTo>
                  <a:pt x="4469" y="1038"/>
                  <a:pt x="4151" y="952"/>
                  <a:pt x="3809" y="952"/>
                </a:cubicBezTo>
                <a:cubicBezTo>
                  <a:pt x="3466" y="952"/>
                  <a:pt x="3149" y="1038"/>
                  <a:pt x="2857" y="1210"/>
                </a:cubicBezTo>
                <a:cubicBezTo>
                  <a:pt x="2565" y="1381"/>
                  <a:pt x="2333" y="1613"/>
                  <a:pt x="2161" y="1905"/>
                </a:cubicBezTo>
                <a:cubicBezTo>
                  <a:pt x="1989" y="2197"/>
                  <a:pt x="1904" y="2514"/>
                  <a:pt x="1904" y="2857"/>
                </a:cubicBezTo>
                <a:cubicBezTo>
                  <a:pt x="1904" y="3199"/>
                  <a:pt x="1989" y="3517"/>
                  <a:pt x="2161" y="3810"/>
                </a:cubicBezTo>
                <a:cubicBezTo>
                  <a:pt x="2333" y="4102"/>
                  <a:pt x="2565" y="4333"/>
                  <a:pt x="2857" y="4505"/>
                </a:cubicBezTo>
                <a:cubicBezTo>
                  <a:pt x="3149" y="4676"/>
                  <a:pt x="3466" y="4762"/>
                  <a:pt x="3809" y="4762"/>
                </a:cubicBezTo>
                <a:moveTo>
                  <a:pt x="7360" y="7390"/>
                </a:moveTo>
                <a:lnTo>
                  <a:pt x="7751" y="6524"/>
                </a:lnTo>
                <a:cubicBezTo>
                  <a:pt x="8195" y="6720"/>
                  <a:pt x="8587" y="6995"/>
                  <a:pt x="8927" y="7348"/>
                </a:cubicBezTo>
                <a:cubicBezTo>
                  <a:pt x="9266" y="7700"/>
                  <a:pt x="9528" y="8098"/>
                  <a:pt x="9712" y="8543"/>
                </a:cubicBezTo>
                <a:cubicBezTo>
                  <a:pt x="9902" y="9006"/>
                  <a:pt x="9998" y="9492"/>
                  <a:pt x="9998" y="10000"/>
                </a:cubicBezTo>
                <a:lnTo>
                  <a:pt x="9046" y="10000"/>
                </a:lnTo>
                <a:cubicBezTo>
                  <a:pt x="9046" y="9428"/>
                  <a:pt x="8890" y="8905"/>
                  <a:pt x="8579" y="8429"/>
                </a:cubicBezTo>
                <a:cubicBezTo>
                  <a:pt x="8274" y="7965"/>
                  <a:pt x="7868" y="7618"/>
                  <a:pt x="7360" y="7390"/>
                </a:cubicBezTo>
                <a:moveTo>
                  <a:pt x="7160" y="2076"/>
                </a:moveTo>
                <a:lnTo>
                  <a:pt x="7427" y="1152"/>
                </a:lnTo>
                <a:cubicBezTo>
                  <a:pt x="7909" y="1349"/>
                  <a:pt x="8300" y="1667"/>
                  <a:pt x="8598" y="2105"/>
                </a:cubicBezTo>
                <a:cubicBezTo>
                  <a:pt x="8896" y="2543"/>
                  <a:pt x="9046" y="3031"/>
                  <a:pt x="9046" y="3571"/>
                </a:cubicBezTo>
                <a:cubicBezTo>
                  <a:pt x="9046" y="4022"/>
                  <a:pt x="8941" y="4440"/>
                  <a:pt x="8732" y="4824"/>
                </a:cubicBezTo>
                <a:cubicBezTo>
                  <a:pt x="8522" y="5208"/>
                  <a:pt x="8234" y="5520"/>
                  <a:pt x="7870" y="5762"/>
                </a:cubicBezTo>
                <a:cubicBezTo>
                  <a:pt x="7504" y="6003"/>
                  <a:pt x="7103" y="6143"/>
                  <a:pt x="6665" y="6181"/>
                </a:cubicBezTo>
                <a:lnTo>
                  <a:pt x="6665" y="5219"/>
                </a:lnTo>
                <a:cubicBezTo>
                  <a:pt x="6931" y="5181"/>
                  <a:pt x="7174" y="5084"/>
                  <a:pt x="7394" y="4929"/>
                </a:cubicBezTo>
                <a:cubicBezTo>
                  <a:pt x="7612" y="4773"/>
                  <a:pt x="7784" y="4576"/>
                  <a:pt x="7908" y="4338"/>
                </a:cubicBezTo>
                <a:cubicBezTo>
                  <a:pt x="8032" y="4100"/>
                  <a:pt x="8094" y="3844"/>
                  <a:pt x="8094" y="3571"/>
                </a:cubicBezTo>
                <a:cubicBezTo>
                  <a:pt x="8094" y="3247"/>
                  <a:pt x="8008" y="2952"/>
                  <a:pt x="7837" y="2686"/>
                </a:cubicBezTo>
                <a:cubicBezTo>
                  <a:pt x="7665" y="2419"/>
                  <a:pt x="7439" y="2216"/>
                  <a:pt x="7160" y="2076"/>
                </a:cubicBez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1"/>
          <p:nvPr>
            <p:custDataLst>
              <p:tags r:id="rId4"/>
            </p:custDataLst>
          </p:nvPr>
        </p:nvSpPr>
        <p:spPr>
          <a:xfrm>
            <a:off x="733242" y="3040261"/>
            <a:ext cx="4999375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A1C20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围绕"多人协商"设计</a:t>
            </a:r>
            <a:endParaRPr lang="en-US" sz="1100"/>
          </a:p>
        </p:txBody>
      </p:sp>
      <p:sp>
        <p:nvSpPr>
          <p:cNvPr id="12" name="TextBox 12"/>
          <p:cNvSpPr txBox="1"/>
          <p:nvPr>
            <p:custDataLst>
              <p:tags r:id="rId5"/>
            </p:custDataLst>
          </p:nvPr>
        </p:nvSpPr>
        <p:spPr>
          <a:xfrm>
            <a:off x="733242" y="3442098"/>
            <a:ext cx="5275530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将成员权限、投票、候选项与决议状态作为核心对象，彻底区别于单人收藏夹的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附属功能，真正解决群体决策难题</a:t>
            </a:r>
            <a:endParaRPr sz="1100" b="0" i="0" strike="noStrike">
              <a:solidFill>
                <a:srgbClr val="1A1C20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733242" y="4139963"/>
            <a:ext cx="4999375" cy="9525"/>
          </a:xfrm>
          <a:prstGeom prst="line">
            <a:avLst/>
          </a:prstGeom>
          <a:ln w="9525">
            <a:solidFill>
              <a:srgbClr val="CDD1D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1"/>
          <p:nvPr>
            <p:custDataLst>
              <p:tags r:id="rId7"/>
            </p:custDataLst>
          </p:nvPr>
        </p:nvSpPr>
        <p:spPr>
          <a:xfrm>
            <a:off x="733242" y="3886598"/>
            <a:ext cx="4999375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4A7FD7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群体决策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8"/>
            </p:custDataLst>
          </p:nvPr>
        </p:nvSpPr>
        <p:spPr>
          <a:xfrm>
            <a:off x="6180455" y="2211705"/>
            <a:ext cx="5551805" cy="4189095"/>
          </a:xfrm>
          <a:prstGeom prst="rect">
            <a:avLst/>
          </a:prstGeom>
          <a:solidFill>
            <a:srgbClr val="EAECEF">
              <a:alpha val="100000"/>
            </a:srgbClr>
          </a:solidFill>
          <a:ln w="9525">
            <a:solidFill>
              <a:srgbClr val="CDD1D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>
            <p:custDataLst>
              <p:tags r:id="rId9"/>
            </p:custDataLst>
          </p:nvPr>
        </p:nvSpPr>
        <p:spPr>
          <a:xfrm>
            <a:off x="6180179" y="2211586"/>
            <a:ext cx="5551687" cy="9525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AutoShape 17"/>
          <p:cNvSpPr/>
          <p:nvPr>
            <p:custDataLst>
              <p:tags r:id="rId10"/>
            </p:custDataLst>
          </p:nvPr>
        </p:nvSpPr>
        <p:spPr>
          <a:xfrm>
            <a:off x="6456336" y="24687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33" y="827"/>
                </a:moveTo>
                <a:lnTo>
                  <a:pt x="4999" y="0"/>
                </a:lnTo>
                <a:lnTo>
                  <a:pt x="9565" y="827"/>
                </a:lnTo>
                <a:cubicBezTo>
                  <a:pt x="9691" y="851"/>
                  <a:pt x="9794" y="906"/>
                  <a:pt x="9876" y="991"/>
                </a:cubicBezTo>
                <a:cubicBezTo>
                  <a:pt x="9957" y="1075"/>
                  <a:pt x="9998" y="1169"/>
                  <a:pt x="9998" y="1273"/>
                </a:cubicBezTo>
                <a:lnTo>
                  <a:pt x="9998" y="5809"/>
                </a:lnTo>
                <a:cubicBezTo>
                  <a:pt x="9998" y="6269"/>
                  <a:pt x="9866" y="6700"/>
                  <a:pt x="9604" y="7100"/>
                </a:cubicBezTo>
                <a:cubicBezTo>
                  <a:pt x="9340" y="7500"/>
                  <a:pt x="8975" y="7827"/>
                  <a:pt x="8509" y="8082"/>
                </a:cubicBezTo>
                <a:lnTo>
                  <a:pt x="4999" y="10000"/>
                </a:lnTo>
                <a:lnTo>
                  <a:pt x="1489" y="8082"/>
                </a:lnTo>
                <a:cubicBezTo>
                  <a:pt x="1022" y="7827"/>
                  <a:pt x="657" y="7500"/>
                  <a:pt x="394" y="7100"/>
                </a:cubicBezTo>
                <a:cubicBezTo>
                  <a:pt x="131" y="6700"/>
                  <a:pt x="0" y="6269"/>
                  <a:pt x="0" y="5809"/>
                </a:cubicBezTo>
                <a:lnTo>
                  <a:pt x="0" y="1273"/>
                </a:lnTo>
                <a:cubicBezTo>
                  <a:pt x="0" y="1169"/>
                  <a:pt x="40" y="1075"/>
                  <a:pt x="122" y="991"/>
                </a:cubicBezTo>
                <a:cubicBezTo>
                  <a:pt x="203" y="906"/>
                  <a:pt x="307" y="851"/>
                  <a:pt x="433" y="827"/>
                </a:cubicBezTo>
                <a:moveTo>
                  <a:pt x="8887" y="1636"/>
                </a:moveTo>
                <a:lnTo>
                  <a:pt x="4999" y="927"/>
                </a:lnTo>
                <a:lnTo>
                  <a:pt x="1111" y="1636"/>
                </a:lnTo>
                <a:lnTo>
                  <a:pt x="1111" y="5809"/>
                </a:lnTo>
                <a:cubicBezTo>
                  <a:pt x="1111" y="6118"/>
                  <a:pt x="1198" y="6406"/>
                  <a:pt x="1372" y="6673"/>
                </a:cubicBezTo>
                <a:cubicBezTo>
                  <a:pt x="1546" y="6939"/>
                  <a:pt x="1788" y="7157"/>
                  <a:pt x="2100" y="7327"/>
                </a:cubicBezTo>
                <a:lnTo>
                  <a:pt x="4999" y="8909"/>
                </a:lnTo>
                <a:lnTo>
                  <a:pt x="7898" y="7327"/>
                </a:lnTo>
                <a:cubicBezTo>
                  <a:pt x="8209" y="7157"/>
                  <a:pt x="8452" y="6939"/>
                  <a:pt x="8626" y="6673"/>
                </a:cubicBezTo>
                <a:cubicBezTo>
                  <a:pt x="8800" y="6406"/>
                  <a:pt x="8887" y="6118"/>
                  <a:pt x="8887" y="5809"/>
                </a:cubicBezTo>
                <a:lnTo>
                  <a:pt x="8887" y="1636"/>
                </a:lnTo>
                <a:moveTo>
                  <a:pt x="4721" y="5536"/>
                </a:moveTo>
                <a:lnTo>
                  <a:pt x="7476" y="3282"/>
                </a:lnTo>
                <a:lnTo>
                  <a:pt x="8254" y="3927"/>
                </a:lnTo>
                <a:lnTo>
                  <a:pt x="4721" y="6818"/>
                </a:lnTo>
                <a:lnTo>
                  <a:pt x="2366" y="4891"/>
                </a:lnTo>
                <a:lnTo>
                  <a:pt x="3155" y="4245"/>
                </a:ln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>
            <p:custDataLst>
              <p:tags r:id="rId11"/>
            </p:custDataLst>
          </p:nvPr>
        </p:nvSpPr>
        <p:spPr>
          <a:xfrm>
            <a:off x="6456336" y="3040261"/>
            <a:ext cx="4999375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A1C20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来源透明且用户可控</a:t>
            </a:r>
            <a:endParaRPr lang="en-US" sz="1100"/>
          </a:p>
        </p:txBody>
      </p:sp>
      <p:sp>
        <p:nvSpPr>
          <p:cNvPr id="19" name="TextBox 19"/>
          <p:cNvSpPr txBox="1"/>
          <p:nvPr>
            <p:custDataLst>
              <p:tags r:id="rId12"/>
            </p:custDataLst>
          </p:nvPr>
        </p:nvSpPr>
        <p:spPr>
          <a:xfrm>
            <a:off x="6456336" y="3442098"/>
            <a:ext cx="5275530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完整记录提交者、原始链接与手动摘要，不将外站内容复制成未经授权的数据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库，规避知识产权与合规风险</a:t>
            </a:r>
            <a:endParaRPr sz="1100" b="0" i="0" strike="noStrike">
              <a:solidFill>
                <a:srgbClr val="1A1C20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3"/>
            </p:custDataLst>
          </p:nvPr>
        </p:nvSpPr>
        <p:spPr>
          <a:xfrm>
            <a:off x="6501421" y="4400948"/>
            <a:ext cx="4999375" cy="9525"/>
          </a:xfrm>
          <a:prstGeom prst="line">
            <a:avLst/>
          </a:prstGeom>
          <a:ln w="9525">
            <a:solidFill>
              <a:srgbClr val="CDD1D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TextBox 21"/>
          <p:cNvSpPr txBox="1"/>
          <p:nvPr>
            <p:custDataLst>
              <p:tags r:id="rId14"/>
            </p:custDataLst>
          </p:nvPr>
        </p:nvSpPr>
        <p:spPr>
          <a:xfrm>
            <a:off x="6501421" y="4049793"/>
            <a:ext cx="4999375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4A7FD7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合规透明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5"/>
            </p:custDataLst>
          </p:nvPr>
        </p:nvSpPr>
        <p:spPr>
          <a:xfrm>
            <a:off x="457086" y="4391918"/>
            <a:ext cx="5551687" cy="2008882"/>
          </a:xfrm>
          <a:prstGeom prst="rect">
            <a:avLst/>
          </a:prstGeom>
          <a:solidFill>
            <a:srgbClr val="EAECEF">
              <a:alpha val="100000"/>
            </a:srgbClr>
          </a:solidFill>
          <a:ln w="9525">
            <a:solidFill>
              <a:srgbClr val="CDD1D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AutoShape 23"/>
          <p:cNvSpPr/>
          <p:nvPr>
            <p:custDataLst>
              <p:tags r:id="rId16"/>
            </p:custDataLst>
          </p:nvPr>
        </p:nvSpPr>
        <p:spPr>
          <a:xfrm>
            <a:off x="457086" y="4391918"/>
            <a:ext cx="5551687" cy="9525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AutoShape 24"/>
          <p:cNvSpPr/>
          <p:nvPr>
            <p:custDataLst>
              <p:tags r:id="rId17"/>
            </p:custDataLst>
          </p:nvPr>
        </p:nvSpPr>
        <p:spPr>
          <a:xfrm>
            <a:off x="733242" y="4649093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812" y="3708"/>
                </a:moveTo>
                <a:lnTo>
                  <a:pt x="5551" y="2979"/>
                </a:lnTo>
                <a:lnTo>
                  <a:pt x="6290" y="3708"/>
                </a:lnTo>
                <a:cubicBezTo>
                  <a:pt x="6755" y="4173"/>
                  <a:pt x="7071" y="4725"/>
                  <a:pt x="7238" y="5365"/>
                </a:cubicBezTo>
                <a:cubicBezTo>
                  <a:pt x="7398" y="5983"/>
                  <a:pt x="7398" y="6601"/>
                  <a:pt x="7238" y="7219"/>
                </a:cubicBezTo>
                <a:cubicBezTo>
                  <a:pt x="7071" y="7851"/>
                  <a:pt x="6755" y="8399"/>
                  <a:pt x="6290" y="8865"/>
                </a:cubicBezTo>
                <a:lnTo>
                  <a:pt x="6103" y="9052"/>
                </a:lnTo>
                <a:cubicBezTo>
                  <a:pt x="5637" y="9517"/>
                  <a:pt x="5085" y="9833"/>
                  <a:pt x="4447" y="10000"/>
                </a:cubicBezTo>
                <a:cubicBezTo>
                  <a:pt x="3836" y="10160"/>
                  <a:pt x="3222" y="10160"/>
                  <a:pt x="2604" y="10000"/>
                </a:cubicBezTo>
                <a:cubicBezTo>
                  <a:pt x="1965" y="9833"/>
                  <a:pt x="1413" y="9517"/>
                  <a:pt x="948" y="9052"/>
                </a:cubicBezTo>
                <a:cubicBezTo>
                  <a:pt x="482" y="8586"/>
                  <a:pt x="166" y="8034"/>
                  <a:pt x="0" y="7396"/>
                </a:cubicBezTo>
                <a:cubicBezTo>
                  <a:pt x="-160" y="6778"/>
                  <a:pt x="-160" y="6163"/>
                  <a:pt x="0" y="5552"/>
                </a:cubicBezTo>
                <a:cubicBezTo>
                  <a:pt x="166" y="4913"/>
                  <a:pt x="482" y="4361"/>
                  <a:pt x="948" y="3896"/>
                </a:cubicBezTo>
                <a:lnTo>
                  <a:pt x="1687" y="4635"/>
                </a:lnTo>
                <a:cubicBezTo>
                  <a:pt x="1353" y="4968"/>
                  <a:pt x="1128" y="5357"/>
                  <a:pt x="1010" y="5802"/>
                </a:cubicBezTo>
                <a:cubicBezTo>
                  <a:pt x="892" y="6246"/>
                  <a:pt x="892" y="6693"/>
                  <a:pt x="1010" y="7141"/>
                </a:cubicBezTo>
                <a:cubicBezTo>
                  <a:pt x="1128" y="7589"/>
                  <a:pt x="1353" y="7979"/>
                  <a:pt x="1687" y="8313"/>
                </a:cubicBezTo>
                <a:cubicBezTo>
                  <a:pt x="2020" y="8646"/>
                  <a:pt x="2411" y="8872"/>
                  <a:pt x="2859" y="8990"/>
                </a:cubicBezTo>
                <a:cubicBezTo>
                  <a:pt x="3307" y="9108"/>
                  <a:pt x="3753" y="9108"/>
                  <a:pt x="4197" y="8990"/>
                </a:cubicBezTo>
                <a:cubicBezTo>
                  <a:pt x="4641" y="8872"/>
                  <a:pt x="5030" y="8646"/>
                  <a:pt x="5364" y="8313"/>
                </a:cubicBezTo>
                <a:lnTo>
                  <a:pt x="5551" y="8135"/>
                </a:lnTo>
                <a:cubicBezTo>
                  <a:pt x="5884" y="7795"/>
                  <a:pt x="6110" y="7402"/>
                  <a:pt x="6228" y="6958"/>
                </a:cubicBezTo>
                <a:cubicBezTo>
                  <a:pt x="6346" y="6514"/>
                  <a:pt x="6346" y="6068"/>
                  <a:pt x="6228" y="5620"/>
                </a:cubicBezTo>
                <a:cubicBezTo>
                  <a:pt x="6110" y="5172"/>
                  <a:pt x="5884" y="4781"/>
                  <a:pt x="5551" y="4448"/>
                </a:cubicBezTo>
                <a:lnTo>
                  <a:pt x="4812" y="3708"/>
                </a:lnTo>
                <a:moveTo>
                  <a:pt x="9050" y="6104"/>
                </a:moveTo>
                <a:lnTo>
                  <a:pt x="8311" y="5365"/>
                </a:lnTo>
                <a:cubicBezTo>
                  <a:pt x="8644" y="5031"/>
                  <a:pt x="8870" y="4642"/>
                  <a:pt x="8988" y="4198"/>
                </a:cubicBezTo>
                <a:cubicBezTo>
                  <a:pt x="9106" y="3753"/>
                  <a:pt x="9106" y="3307"/>
                  <a:pt x="8988" y="2859"/>
                </a:cubicBezTo>
                <a:cubicBezTo>
                  <a:pt x="8870" y="2411"/>
                  <a:pt x="8644" y="2021"/>
                  <a:pt x="8311" y="1688"/>
                </a:cubicBezTo>
                <a:cubicBezTo>
                  <a:pt x="7977" y="1354"/>
                  <a:pt x="7587" y="1128"/>
                  <a:pt x="7139" y="1010"/>
                </a:cubicBezTo>
                <a:cubicBezTo>
                  <a:pt x="6691" y="892"/>
                  <a:pt x="6245" y="892"/>
                  <a:pt x="5801" y="1010"/>
                </a:cubicBezTo>
                <a:cubicBezTo>
                  <a:pt x="5356" y="1128"/>
                  <a:pt x="4967" y="1354"/>
                  <a:pt x="4634" y="1688"/>
                </a:cubicBezTo>
                <a:lnTo>
                  <a:pt x="4447" y="1865"/>
                </a:lnTo>
                <a:cubicBezTo>
                  <a:pt x="4113" y="2205"/>
                  <a:pt x="3888" y="2597"/>
                  <a:pt x="3770" y="3042"/>
                </a:cubicBezTo>
                <a:cubicBezTo>
                  <a:pt x="3652" y="3486"/>
                  <a:pt x="3652" y="3932"/>
                  <a:pt x="3770" y="4380"/>
                </a:cubicBezTo>
                <a:cubicBezTo>
                  <a:pt x="3888" y="4828"/>
                  <a:pt x="4113" y="5218"/>
                  <a:pt x="4447" y="5552"/>
                </a:cubicBezTo>
                <a:lnTo>
                  <a:pt x="5186" y="6292"/>
                </a:lnTo>
                <a:lnTo>
                  <a:pt x="4447" y="7021"/>
                </a:lnTo>
                <a:lnTo>
                  <a:pt x="3708" y="6292"/>
                </a:lnTo>
                <a:cubicBezTo>
                  <a:pt x="3242" y="5826"/>
                  <a:pt x="2926" y="5274"/>
                  <a:pt x="2760" y="4635"/>
                </a:cubicBezTo>
                <a:cubicBezTo>
                  <a:pt x="2600" y="4017"/>
                  <a:pt x="2600" y="3399"/>
                  <a:pt x="2760" y="2781"/>
                </a:cubicBezTo>
                <a:cubicBezTo>
                  <a:pt x="2926" y="2149"/>
                  <a:pt x="3242" y="1600"/>
                  <a:pt x="3708" y="1135"/>
                </a:cubicBezTo>
                <a:lnTo>
                  <a:pt x="3895" y="948"/>
                </a:lnTo>
                <a:cubicBezTo>
                  <a:pt x="4360" y="482"/>
                  <a:pt x="4912" y="166"/>
                  <a:pt x="5551" y="0"/>
                </a:cubicBezTo>
                <a:cubicBezTo>
                  <a:pt x="6161" y="-160"/>
                  <a:pt x="6776" y="-160"/>
                  <a:pt x="7394" y="0"/>
                </a:cubicBezTo>
                <a:cubicBezTo>
                  <a:pt x="8032" y="166"/>
                  <a:pt x="8584" y="482"/>
                  <a:pt x="9050" y="948"/>
                </a:cubicBezTo>
                <a:cubicBezTo>
                  <a:pt x="9515" y="1413"/>
                  <a:pt x="9831" y="1965"/>
                  <a:pt x="9998" y="2604"/>
                </a:cubicBezTo>
                <a:cubicBezTo>
                  <a:pt x="10158" y="3222"/>
                  <a:pt x="10158" y="3836"/>
                  <a:pt x="9998" y="4448"/>
                </a:cubicBezTo>
                <a:cubicBezTo>
                  <a:pt x="9831" y="5086"/>
                  <a:pt x="9515" y="5638"/>
                  <a:pt x="9050" y="6104"/>
                </a:cubicBez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5" name="TextBox 25"/>
          <p:cNvSpPr txBox="1"/>
          <p:nvPr>
            <p:custDataLst>
              <p:tags r:id="rId18"/>
            </p:custDataLst>
          </p:nvPr>
        </p:nvSpPr>
        <p:spPr>
          <a:xfrm>
            <a:off x="733242" y="5220593"/>
            <a:ext cx="4999375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A1C20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规划与执行无缝衔接</a:t>
            </a:r>
            <a:endParaRPr lang="en-US" sz="1100"/>
          </a:p>
        </p:txBody>
      </p:sp>
      <p:sp>
        <p:nvSpPr>
          <p:cNvPr id="26" name="TextBox 26"/>
          <p:cNvSpPr txBox="1"/>
          <p:nvPr>
            <p:custDataLst>
              <p:tags r:id="rId19"/>
            </p:custDataLst>
          </p:nvPr>
        </p:nvSpPr>
        <p:spPr>
          <a:xfrm>
            <a:off x="733242" y="5622428"/>
            <a:ext cx="5275530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计划地图、行程顺序、预算与出发清单共享同一份底层数据，确保信息同步，无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需在多个应用间反复切换</a:t>
            </a:r>
            <a:endParaRPr sz="1100" b="0" i="0" strike="noStrike">
              <a:solidFill>
                <a:srgbClr val="1A1C20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7" name="AutoShape 27"/>
          <p:cNvSpPr/>
          <p:nvPr>
            <p:custDataLst>
              <p:tags r:id="rId20"/>
            </p:custDataLst>
          </p:nvPr>
        </p:nvSpPr>
        <p:spPr>
          <a:xfrm>
            <a:off x="733242" y="6260603"/>
            <a:ext cx="4999375" cy="9525"/>
          </a:xfrm>
          <a:prstGeom prst="line">
            <a:avLst/>
          </a:prstGeom>
          <a:ln w="9525">
            <a:solidFill>
              <a:srgbClr val="CDD1D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TextBox 28"/>
          <p:cNvSpPr txBox="1"/>
          <p:nvPr>
            <p:custDataLst>
              <p:tags r:id="rId21"/>
            </p:custDataLst>
          </p:nvPr>
        </p:nvSpPr>
        <p:spPr>
          <a:xfrm>
            <a:off x="733242" y="6000253"/>
            <a:ext cx="4999375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4A7FD7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数据同步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E0E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A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380905" y="400050"/>
            <a:ext cx="11427142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50196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Target User &amp; Market Entry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380905" y="638175"/>
            <a:ext cx="11427142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1A1C20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目标用户画像与市场切入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0905" y="1135261"/>
            <a:ext cx="9522" cy="571500"/>
          </a:xfrm>
          <a:prstGeom prst="line">
            <a:avLst/>
          </a:prstGeom>
          <a:ln w="9525">
            <a:solidFill>
              <a:srgbClr val="4A7FD7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1"/>
          <p:nvPr/>
        </p:nvSpPr>
        <p:spPr>
          <a:xfrm>
            <a:off x="523744" y="1173361"/>
            <a:ext cx="11665208" cy="495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0" i="1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首发聚焦18-38岁、常组织3-8人短途游的"群组组织者"，从高频协作痛点明显、决策链短的朋友结伴场景切入，通过自下而上的模型验</a:t>
            </a:r>
            <a:endParaRPr lang="en-US" sz="1100"/>
          </a:p>
          <a:p>
            <a:pPr algn="l"/>
            <a:r>
              <a:rPr sz="1500" b="0" i="1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证市场潜力。</a:t>
            </a:r>
            <a:endParaRPr sz="1500" b="0" i="1" strike="noStrike">
              <a:solidFill>
                <a:srgbClr val="1A1C20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380905" y="1859161"/>
            <a:ext cx="5637390" cy="2232720"/>
          </a:xfrm>
          <a:prstGeom prst="rect">
            <a:avLst/>
          </a:prstGeom>
          <a:solidFill>
            <a:srgbClr val="EEF0F4">
              <a:alpha val="100000"/>
            </a:srgbClr>
          </a:solidFill>
          <a:ln w="9525">
            <a:solidFill>
              <a:srgbClr val="D4D8D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380905" y="1859161"/>
            <a:ext cx="5637390" cy="9525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>
            <p:custDataLst>
              <p:tags r:id="rId3"/>
            </p:custDataLst>
          </p:nvPr>
        </p:nvSpPr>
        <p:spPr>
          <a:xfrm>
            <a:off x="580880" y="2040136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264" y="5898"/>
                </a:moveTo>
                <a:lnTo>
                  <a:pt x="4264" y="6806"/>
                </a:lnTo>
                <a:cubicBezTo>
                  <a:pt x="3688" y="6806"/>
                  <a:pt x="3151" y="6930"/>
                  <a:pt x="2654" y="7178"/>
                </a:cubicBezTo>
                <a:cubicBezTo>
                  <a:pt x="2170" y="7420"/>
                  <a:pt x="1787" y="7743"/>
                  <a:pt x="1503" y="8149"/>
                </a:cubicBezTo>
                <a:cubicBezTo>
                  <a:pt x="1211" y="8572"/>
                  <a:pt x="1066" y="9032"/>
                  <a:pt x="1066" y="9528"/>
                </a:cubicBezTo>
                <a:lnTo>
                  <a:pt x="0" y="9528"/>
                </a:lnTo>
                <a:cubicBezTo>
                  <a:pt x="0" y="8868"/>
                  <a:pt x="195" y="8257"/>
                  <a:pt x="586" y="7695"/>
                </a:cubicBezTo>
                <a:cubicBezTo>
                  <a:pt x="962" y="7144"/>
                  <a:pt x="1470" y="6708"/>
                  <a:pt x="2110" y="6388"/>
                </a:cubicBezTo>
                <a:cubicBezTo>
                  <a:pt x="2771" y="6061"/>
                  <a:pt x="3489" y="5898"/>
                  <a:pt x="4264" y="5898"/>
                </a:cubicBezTo>
                <a:moveTo>
                  <a:pt x="4264" y="5445"/>
                </a:moveTo>
                <a:cubicBezTo>
                  <a:pt x="3688" y="5445"/>
                  <a:pt x="3151" y="5321"/>
                  <a:pt x="2654" y="5073"/>
                </a:cubicBezTo>
                <a:cubicBezTo>
                  <a:pt x="2170" y="4831"/>
                  <a:pt x="1787" y="4504"/>
                  <a:pt x="1503" y="4093"/>
                </a:cubicBezTo>
                <a:cubicBezTo>
                  <a:pt x="1211" y="3669"/>
                  <a:pt x="1066" y="3210"/>
                  <a:pt x="1066" y="2718"/>
                </a:cubicBezTo>
                <a:cubicBezTo>
                  <a:pt x="1066" y="2224"/>
                  <a:pt x="1211" y="1766"/>
                  <a:pt x="1503" y="1343"/>
                </a:cubicBezTo>
                <a:cubicBezTo>
                  <a:pt x="1787" y="937"/>
                  <a:pt x="2170" y="614"/>
                  <a:pt x="2654" y="372"/>
                </a:cubicBezTo>
                <a:cubicBezTo>
                  <a:pt x="3151" y="124"/>
                  <a:pt x="3689" y="0"/>
                  <a:pt x="4269" y="0"/>
                </a:cubicBezTo>
                <a:cubicBezTo>
                  <a:pt x="4848" y="0"/>
                  <a:pt x="5386" y="124"/>
                  <a:pt x="5884" y="372"/>
                </a:cubicBezTo>
                <a:cubicBezTo>
                  <a:pt x="6360" y="614"/>
                  <a:pt x="6740" y="937"/>
                  <a:pt x="7024" y="1343"/>
                </a:cubicBezTo>
                <a:cubicBezTo>
                  <a:pt x="7315" y="1766"/>
                  <a:pt x="7461" y="2224"/>
                  <a:pt x="7461" y="2718"/>
                </a:cubicBezTo>
                <a:cubicBezTo>
                  <a:pt x="7461" y="3210"/>
                  <a:pt x="7315" y="3669"/>
                  <a:pt x="7024" y="4093"/>
                </a:cubicBezTo>
                <a:cubicBezTo>
                  <a:pt x="6740" y="4504"/>
                  <a:pt x="6360" y="4831"/>
                  <a:pt x="5884" y="5073"/>
                </a:cubicBezTo>
                <a:cubicBezTo>
                  <a:pt x="5386" y="5321"/>
                  <a:pt x="4846" y="5445"/>
                  <a:pt x="4264" y="5445"/>
                </a:cubicBezTo>
                <a:moveTo>
                  <a:pt x="4264" y="4537"/>
                </a:moveTo>
                <a:cubicBezTo>
                  <a:pt x="4647" y="4537"/>
                  <a:pt x="5002" y="4455"/>
                  <a:pt x="5329" y="4292"/>
                </a:cubicBezTo>
                <a:cubicBezTo>
                  <a:pt x="5656" y="4128"/>
                  <a:pt x="5916" y="3908"/>
                  <a:pt x="6108" y="3630"/>
                </a:cubicBezTo>
                <a:cubicBezTo>
                  <a:pt x="6299" y="3351"/>
                  <a:pt x="6395" y="3048"/>
                  <a:pt x="6395" y="2722"/>
                </a:cubicBezTo>
                <a:cubicBezTo>
                  <a:pt x="6395" y="2395"/>
                  <a:pt x="6299" y="2093"/>
                  <a:pt x="6108" y="1815"/>
                </a:cubicBezTo>
                <a:cubicBezTo>
                  <a:pt x="5916" y="1536"/>
                  <a:pt x="5656" y="1315"/>
                  <a:pt x="5329" y="1152"/>
                </a:cubicBezTo>
                <a:cubicBezTo>
                  <a:pt x="5002" y="988"/>
                  <a:pt x="4647" y="907"/>
                  <a:pt x="4264" y="907"/>
                </a:cubicBezTo>
                <a:cubicBezTo>
                  <a:pt x="3880" y="907"/>
                  <a:pt x="3524" y="988"/>
                  <a:pt x="3198" y="1152"/>
                </a:cubicBezTo>
                <a:cubicBezTo>
                  <a:pt x="2870" y="1315"/>
                  <a:pt x="2611" y="1536"/>
                  <a:pt x="2420" y="1815"/>
                </a:cubicBezTo>
                <a:cubicBezTo>
                  <a:pt x="2228" y="2093"/>
                  <a:pt x="2132" y="2395"/>
                  <a:pt x="2132" y="2722"/>
                </a:cubicBezTo>
                <a:cubicBezTo>
                  <a:pt x="2132" y="3048"/>
                  <a:pt x="2228" y="3351"/>
                  <a:pt x="2420" y="3630"/>
                </a:cubicBezTo>
                <a:cubicBezTo>
                  <a:pt x="2611" y="3908"/>
                  <a:pt x="2870" y="4128"/>
                  <a:pt x="3198" y="4292"/>
                </a:cubicBezTo>
                <a:cubicBezTo>
                  <a:pt x="3524" y="4455"/>
                  <a:pt x="3880" y="4537"/>
                  <a:pt x="4264" y="4537"/>
                </a:cubicBezTo>
                <a:moveTo>
                  <a:pt x="9028" y="10000"/>
                </a:moveTo>
                <a:lnTo>
                  <a:pt x="7461" y="9301"/>
                </a:lnTo>
                <a:lnTo>
                  <a:pt x="5894" y="10000"/>
                </a:lnTo>
                <a:lnTo>
                  <a:pt x="6193" y="8512"/>
                </a:lnTo>
                <a:lnTo>
                  <a:pt x="4924" y="7468"/>
                </a:lnTo>
                <a:lnTo>
                  <a:pt x="6683" y="7250"/>
                </a:lnTo>
                <a:lnTo>
                  <a:pt x="7461" y="5898"/>
                </a:lnTo>
                <a:lnTo>
                  <a:pt x="8250" y="7250"/>
                </a:lnTo>
                <a:lnTo>
                  <a:pt x="9998" y="7468"/>
                </a:lnTo>
                <a:lnTo>
                  <a:pt x="8730" y="8512"/>
                </a:ln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1"/>
          <p:nvPr>
            <p:custDataLst>
              <p:tags r:id="rId4"/>
            </p:custDataLst>
          </p:nvPr>
        </p:nvSpPr>
        <p:spPr>
          <a:xfrm>
            <a:off x="580880" y="2463998"/>
            <a:ext cx="523744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核心用户画像</a:t>
            </a:r>
            <a:endParaRPr lang="en-US" sz="1100"/>
          </a:p>
        </p:txBody>
      </p:sp>
      <p:sp>
        <p:nvSpPr>
          <p:cNvPr id="12" name="TextBox 12"/>
          <p:cNvSpPr txBox="1"/>
          <p:nvPr>
            <p:custDataLst>
              <p:tags r:id="rId5"/>
            </p:custDataLst>
          </p:nvPr>
        </p:nvSpPr>
        <p:spPr>
          <a:xfrm>
            <a:off x="580880" y="2683073"/>
            <a:ext cx="5237441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1C20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群组组织者</a:t>
            </a:r>
            <a:endParaRPr lang="en-US" sz="1100"/>
          </a:p>
        </p:txBody>
      </p:sp>
      <p:sp>
        <p:nvSpPr>
          <p:cNvPr id="13" name="TextBox 13"/>
          <p:cNvSpPr txBox="1"/>
          <p:nvPr>
            <p:custDataLst>
              <p:tags r:id="rId6"/>
            </p:custDataLst>
          </p:nvPr>
        </p:nvSpPr>
        <p:spPr>
          <a:xfrm>
            <a:off x="580880" y="3040261"/>
            <a:ext cx="5437415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C20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18-38岁，擅长搜集信息但常被迫承担排程工作，重视工具上手速度，是产品冷启动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的关键节点</a:t>
            </a:r>
            <a:endParaRPr sz="1100" b="0" i="0" strike="noStrike">
              <a:solidFill>
                <a:srgbClr val="1A1C20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7"/>
            </p:custDataLst>
          </p:nvPr>
        </p:nvSpPr>
        <p:spPr>
          <a:xfrm>
            <a:off x="580880" y="3934976"/>
            <a:ext cx="5237441" cy="9525"/>
          </a:xfrm>
          <a:prstGeom prst="line">
            <a:avLst/>
          </a:prstGeom>
          <a:ln w="9525">
            <a:solidFill>
              <a:srgbClr val="D4D8D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TextBox 15"/>
          <p:cNvSpPr txBox="1"/>
          <p:nvPr>
            <p:custDataLst>
              <p:tags r:id="rId8"/>
            </p:custDataLst>
          </p:nvPr>
        </p:nvSpPr>
        <p:spPr>
          <a:xfrm>
            <a:off x="580880" y="3614936"/>
            <a:ext cx="5237441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4A7FD7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18-38</a:t>
            </a:r>
            <a:r>
              <a:rPr lang="zh-CN" altLang="en-US" sz="1800" b="0" i="0" strike="noStrike">
                <a:solidFill>
                  <a:srgbClr val="4A7FD7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岁</a:t>
            </a:r>
            <a:endParaRPr lang="zh-CN" altLang="en-US" sz="1800" b="0" i="0" strike="noStrike">
              <a:solidFill>
                <a:srgbClr val="4A7FD7">
                  <a:alpha val="100000"/>
                </a:srgbClr>
              </a:solidFill>
              <a:latin typeface="Alibaba PuHuiTi 3.0 55 Regular"/>
              <a:ea typeface="Alibaba PuHuiTi 3.0 55 Regular"/>
              <a:cs typeface="Alibaba PuHuiTi 3.0 55 Regular"/>
            </a:endParaRPr>
          </a:p>
        </p:txBody>
      </p:sp>
      <p:sp>
        <p:nvSpPr>
          <p:cNvPr id="16" name="AutoShape 16"/>
          <p:cNvSpPr/>
          <p:nvPr>
            <p:custDataLst>
              <p:tags r:id="rId9"/>
            </p:custDataLst>
          </p:nvPr>
        </p:nvSpPr>
        <p:spPr>
          <a:xfrm>
            <a:off x="6170930" y="1859280"/>
            <a:ext cx="5637530" cy="4617085"/>
          </a:xfrm>
          <a:prstGeom prst="rect">
            <a:avLst/>
          </a:prstGeom>
          <a:solidFill>
            <a:srgbClr val="EEF0F4">
              <a:alpha val="100000"/>
            </a:srgbClr>
          </a:solidFill>
          <a:ln w="9525">
            <a:solidFill>
              <a:srgbClr val="D4D8D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AutoShape 17"/>
          <p:cNvSpPr/>
          <p:nvPr>
            <p:custDataLst>
              <p:tags r:id="rId10"/>
            </p:custDataLst>
          </p:nvPr>
        </p:nvSpPr>
        <p:spPr>
          <a:xfrm>
            <a:off x="6170657" y="1859161"/>
            <a:ext cx="5637390" cy="9525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AutoShape 18"/>
          <p:cNvSpPr/>
          <p:nvPr>
            <p:custDataLst>
              <p:tags r:id="rId11"/>
            </p:custDataLst>
          </p:nvPr>
        </p:nvSpPr>
        <p:spPr>
          <a:xfrm>
            <a:off x="6370632" y="2040136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5262" y="6314"/>
                </a:moveTo>
                <a:lnTo>
                  <a:pt x="5262" y="7305"/>
                </a:lnTo>
                <a:cubicBezTo>
                  <a:pt x="4925" y="7197"/>
                  <a:pt x="4574" y="7143"/>
                  <a:pt x="4210" y="7143"/>
                </a:cubicBezTo>
                <a:cubicBezTo>
                  <a:pt x="3641" y="7143"/>
                  <a:pt x="3111" y="7273"/>
                  <a:pt x="2621" y="7533"/>
                </a:cubicBezTo>
                <a:cubicBezTo>
                  <a:pt x="2143" y="7787"/>
                  <a:pt x="1764" y="8130"/>
                  <a:pt x="1484" y="8562"/>
                </a:cubicBezTo>
                <a:cubicBezTo>
                  <a:pt x="1196" y="9006"/>
                  <a:pt x="1052" y="9486"/>
                  <a:pt x="1052" y="10000"/>
                </a:cubicBezTo>
                <a:lnTo>
                  <a:pt x="0" y="10000"/>
                </a:lnTo>
                <a:cubicBezTo>
                  <a:pt x="0" y="9308"/>
                  <a:pt x="193" y="8666"/>
                  <a:pt x="579" y="8076"/>
                </a:cubicBezTo>
                <a:cubicBezTo>
                  <a:pt x="951" y="7504"/>
                  <a:pt x="1452" y="7050"/>
                  <a:pt x="2084" y="6714"/>
                </a:cubicBezTo>
                <a:cubicBezTo>
                  <a:pt x="2736" y="6364"/>
                  <a:pt x="3445" y="6190"/>
                  <a:pt x="4210" y="6190"/>
                </a:cubicBezTo>
                <a:cubicBezTo>
                  <a:pt x="4567" y="6190"/>
                  <a:pt x="4918" y="6231"/>
                  <a:pt x="5262" y="6314"/>
                </a:cubicBezTo>
                <a:moveTo>
                  <a:pt x="4210" y="5714"/>
                </a:moveTo>
                <a:cubicBezTo>
                  <a:pt x="3634" y="5714"/>
                  <a:pt x="3105" y="5584"/>
                  <a:pt x="2621" y="5324"/>
                </a:cubicBezTo>
                <a:cubicBezTo>
                  <a:pt x="2143" y="5070"/>
                  <a:pt x="1764" y="4727"/>
                  <a:pt x="1484" y="4295"/>
                </a:cubicBezTo>
                <a:cubicBezTo>
                  <a:pt x="1196" y="3857"/>
                  <a:pt x="1052" y="3377"/>
                  <a:pt x="1052" y="2857"/>
                </a:cubicBezTo>
                <a:cubicBezTo>
                  <a:pt x="1052" y="2336"/>
                  <a:pt x="1196" y="1857"/>
                  <a:pt x="1484" y="1419"/>
                </a:cubicBezTo>
                <a:cubicBezTo>
                  <a:pt x="1764" y="987"/>
                  <a:pt x="2143" y="644"/>
                  <a:pt x="2621" y="390"/>
                </a:cubicBezTo>
                <a:cubicBezTo>
                  <a:pt x="3105" y="130"/>
                  <a:pt x="3634" y="0"/>
                  <a:pt x="4210" y="0"/>
                </a:cubicBezTo>
                <a:cubicBezTo>
                  <a:pt x="4785" y="0"/>
                  <a:pt x="5315" y="130"/>
                  <a:pt x="5799" y="390"/>
                </a:cubicBezTo>
                <a:cubicBezTo>
                  <a:pt x="6275" y="644"/>
                  <a:pt x="6654" y="987"/>
                  <a:pt x="6935" y="1419"/>
                </a:cubicBezTo>
                <a:cubicBezTo>
                  <a:pt x="7223" y="1857"/>
                  <a:pt x="7367" y="2336"/>
                  <a:pt x="7367" y="2857"/>
                </a:cubicBezTo>
                <a:cubicBezTo>
                  <a:pt x="7367" y="3377"/>
                  <a:pt x="7223" y="3857"/>
                  <a:pt x="6935" y="4295"/>
                </a:cubicBezTo>
                <a:cubicBezTo>
                  <a:pt x="6654" y="4727"/>
                  <a:pt x="6275" y="5070"/>
                  <a:pt x="5799" y="5324"/>
                </a:cubicBezTo>
                <a:cubicBezTo>
                  <a:pt x="5315" y="5584"/>
                  <a:pt x="4785" y="5714"/>
                  <a:pt x="4210" y="5714"/>
                </a:cubicBezTo>
                <a:moveTo>
                  <a:pt x="4210" y="4762"/>
                </a:moveTo>
                <a:cubicBezTo>
                  <a:pt x="4588" y="4762"/>
                  <a:pt x="4939" y="4676"/>
                  <a:pt x="5262" y="4505"/>
                </a:cubicBezTo>
                <a:cubicBezTo>
                  <a:pt x="5584" y="4333"/>
                  <a:pt x="5840" y="4102"/>
                  <a:pt x="6030" y="3810"/>
                </a:cubicBezTo>
                <a:cubicBezTo>
                  <a:pt x="6220" y="3517"/>
                  <a:pt x="6315" y="3199"/>
                  <a:pt x="6315" y="2857"/>
                </a:cubicBezTo>
                <a:cubicBezTo>
                  <a:pt x="6315" y="2514"/>
                  <a:pt x="6220" y="2197"/>
                  <a:pt x="6030" y="1905"/>
                </a:cubicBezTo>
                <a:cubicBezTo>
                  <a:pt x="5840" y="1613"/>
                  <a:pt x="5584" y="1381"/>
                  <a:pt x="5262" y="1210"/>
                </a:cubicBezTo>
                <a:cubicBezTo>
                  <a:pt x="4939" y="1038"/>
                  <a:pt x="4588" y="952"/>
                  <a:pt x="4210" y="952"/>
                </a:cubicBezTo>
                <a:cubicBezTo>
                  <a:pt x="3830" y="952"/>
                  <a:pt x="3479" y="1038"/>
                  <a:pt x="3157" y="1210"/>
                </a:cubicBezTo>
                <a:cubicBezTo>
                  <a:pt x="2834" y="1381"/>
                  <a:pt x="2578" y="1613"/>
                  <a:pt x="2389" y="1905"/>
                </a:cubicBezTo>
                <a:cubicBezTo>
                  <a:pt x="2199" y="2197"/>
                  <a:pt x="2105" y="2514"/>
                  <a:pt x="2105" y="2857"/>
                </a:cubicBezTo>
                <a:cubicBezTo>
                  <a:pt x="2105" y="3199"/>
                  <a:pt x="2199" y="3517"/>
                  <a:pt x="2389" y="3810"/>
                </a:cubicBezTo>
                <a:cubicBezTo>
                  <a:pt x="2578" y="4102"/>
                  <a:pt x="2834" y="4333"/>
                  <a:pt x="3157" y="4505"/>
                </a:cubicBezTo>
                <a:cubicBezTo>
                  <a:pt x="3479" y="4676"/>
                  <a:pt x="3830" y="4762"/>
                  <a:pt x="4210" y="4762"/>
                </a:cubicBezTo>
                <a:moveTo>
                  <a:pt x="5788" y="7619"/>
                </a:moveTo>
                <a:lnTo>
                  <a:pt x="7367" y="7619"/>
                </a:lnTo>
                <a:lnTo>
                  <a:pt x="7367" y="6190"/>
                </a:lnTo>
                <a:lnTo>
                  <a:pt x="8419" y="6190"/>
                </a:lnTo>
                <a:lnTo>
                  <a:pt x="8419" y="7619"/>
                </a:lnTo>
                <a:lnTo>
                  <a:pt x="9998" y="7619"/>
                </a:lnTo>
                <a:lnTo>
                  <a:pt x="9998" y="8571"/>
                </a:lnTo>
                <a:lnTo>
                  <a:pt x="8419" y="8571"/>
                </a:lnTo>
                <a:lnTo>
                  <a:pt x="8419" y="10000"/>
                </a:lnTo>
                <a:lnTo>
                  <a:pt x="7367" y="10000"/>
                </a:lnTo>
                <a:lnTo>
                  <a:pt x="7367" y="8571"/>
                </a:lnTo>
                <a:lnTo>
                  <a:pt x="5788" y="8571"/>
                </a:ln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9" name="TextBox 19"/>
          <p:cNvSpPr txBox="1"/>
          <p:nvPr>
            <p:custDataLst>
              <p:tags r:id="rId12"/>
            </p:custDataLst>
          </p:nvPr>
        </p:nvSpPr>
        <p:spPr>
          <a:xfrm>
            <a:off x="6370632" y="2463998"/>
            <a:ext cx="523744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核心用户画像</a:t>
            </a:r>
            <a:endParaRPr lang="en-US" sz="1100"/>
          </a:p>
        </p:txBody>
      </p:sp>
      <p:sp>
        <p:nvSpPr>
          <p:cNvPr id="20" name="TextBox 20"/>
          <p:cNvSpPr txBox="1"/>
          <p:nvPr>
            <p:custDataLst>
              <p:tags r:id="rId13"/>
            </p:custDataLst>
          </p:nvPr>
        </p:nvSpPr>
        <p:spPr>
          <a:xfrm>
            <a:off x="6370632" y="2683073"/>
            <a:ext cx="5237441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1C20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同行成员</a:t>
            </a:r>
            <a:endParaRPr lang="en-US" sz="1100"/>
          </a:p>
        </p:txBody>
      </p:sp>
      <p:sp>
        <p:nvSpPr>
          <p:cNvPr id="21" name="TextBox 21"/>
          <p:cNvSpPr txBox="1"/>
          <p:nvPr>
            <p:custDataLst>
              <p:tags r:id="rId14"/>
            </p:custDataLst>
          </p:nvPr>
        </p:nvSpPr>
        <p:spPr>
          <a:xfrm>
            <a:off x="6370632" y="3040261"/>
            <a:ext cx="5437415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C20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不愿安装新应用，希望快速查看计划并表达意见，通过邀请链接轻量化接入，降低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协作阻力</a:t>
            </a:r>
            <a:endParaRPr sz="1100" b="0" i="0" strike="noStrike">
              <a:solidFill>
                <a:srgbClr val="1A1C20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15"/>
            </p:custDataLst>
          </p:nvPr>
        </p:nvSpPr>
        <p:spPr>
          <a:xfrm>
            <a:off x="6370632" y="4235966"/>
            <a:ext cx="5237441" cy="9525"/>
          </a:xfrm>
          <a:prstGeom prst="line">
            <a:avLst/>
          </a:prstGeom>
          <a:ln w="9525">
            <a:solidFill>
              <a:srgbClr val="D4D8D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TextBox 23"/>
          <p:cNvSpPr txBox="1"/>
          <p:nvPr>
            <p:custDataLst>
              <p:tags r:id="rId16"/>
            </p:custDataLst>
          </p:nvPr>
        </p:nvSpPr>
        <p:spPr>
          <a:xfrm>
            <a:off x="6370632" y="3934976"/>
            <a:ext cx="5237441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4A7FD7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邀请链接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17"/>
            </p:custDataLst>
          </p:nvPr>
        </p:nvSpPr>
        <p:spPr>
          <a:xfrm>
            <a:off x="380905" y="4244280"/>
            <a:ext cx="5637390" cy="2232720"/>
          </a:xfrm>
          <a:prstGeom prst="rect">
            <a:avLst/>
          </a:prstGeom>
          <a:solidFill>
            <a:srgbClr val="EEF0F4">
              <a:alpha val="100000"/>
            </a:srgbClr>
          </a:solidFill>
          <a:ln w="9525">
            <a:solidFill>
              <a:srgbClr val="D4D8D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AutoShape 25"/>
          <p:cNvSpPr/>
          <p:nvPr>
            <p:custDataLst>
              <p:tags r:id="rId18"/>
            </p:custDataLst>
          </p:nvPr>
        </p:nvSpPr>
        <p:spPr>
          <a:xfrm>
            <a:off x="380905" y="4244280"/>
            <a:ext cx="5637390" cy="9525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AutoShape 26"/>
          <p:cNvSpPr/>
          <p:nvPr>
            <p:custDataLst>
              <p:tags r:id="rId19"/>
            </p:custDataLst>
          </p:nvPr>
        </p:nvSpPr>
        <p:spPr>
          <a:xfrm>
            <a:off x="580880" y="4425255"/>
            <a:ext cx="304724" cy="3048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545" y="0"/>
                </a:moveTo>
                <a:lnTo>
                  <a:pt x="5453" y="0"/>
                </a:lnTo>
                <a:lnTo>
                  <a:pt x="5453" y="1391"/>
                </a:lnTo>
                <a:cubicBezTo>
                  <a:pt x="5992" y="1457"/>
                  <a:pt x="6491" y="1636"/>
                  <a:pt x="6949" y="1927"/>
                </a:cubicBezTo>
                <a:cubicBezTo>
                  <a:pt x="7406" y="2218"/>
                  <a:pt x="7780" y="2592"/>
                  <a:pt x="8071" y="3050"/>
                </a:cubicBezTo>
                <a:cubicBezTo>
                  <a:pt x="8361" y="3507"/>
                  <a:pt x="8540" y="4005"/>
                  <a:pt x="8607" y="4545"/>
                </a:cubicBezTo>
                <a:lnTo>
                  <a:pt x="9998" y="4545"/>
                </a:lnTo>
                <a:lnTo>
                  <a:pt x="9998" y="5455"/>
                </a:lnTo>
                <a:lnTo>
                  <a:pt x="8607" y="5455"/>
                </a:lnTo>
                <a:cubicBezTo>
                  <a:pt x="8540" y="5994"/>
                  <a:pt x="8361" y="6492"/>
                  <a:pt x="8071" y="6950"/>
                </a:cubicBezTo>
                <a:cubicBezTo>
                  <a:pt x="7780" y="7407"/>
                  <a:pt x="7406" y="7781"/>
                  <a:pt x="6949" y="8073"/>
                </a:cubicBezTo>
                <a:cubicBezTo>
                  <a:pt x="6491" y="8363"/>
                  <a:pt x="5992" y="8542"/>
                  <a:pt x="5453" y="8609"/>
                </a:cubicBezTo>
                <a:lnTo>
                  <a:pt x="5453" y="10000"/>
                </a:lnTo>
                <a:lnTo>
                  <a:pt x="4545" y="10000"/>
                </a:lnTo>
                <a:lnTo>
                  <a:pt x="4545" y="8609"/>
                </a:lnTo>
                <a:cubicBezTo>
                  <a:pt x="4005" y="8542"/>
                  <a:pt x="3507" y="8363"/>
                  <a:pt x="3049" y="8073"/>
                </a:cubicBezTo>
                <a:cubicBezTo>
                  <a:pt x="2591" y="7781"/>
                  <a:pt x="2217" y="7407"/>
                  <a:pt x="1927" y="6950"/>
                </a:cubicBezTo>
                <a:cubicBezTo>
                  <a:pt x="1636" y="6492"/>
                  <a:pt x="1457" y="5994"/>
                  <a:pt x="1391" y="5455"/>
                </a:cubicBezTo>
                <a:lnTo>
                  <a:pt x="0" y="5455"/>
                </a:lnTo>
                <a:lnTo>
                  <a:pt x="0" y="4545"/>
                </a:lnTo>
                <a:lnTo>
                  <a:pt x="1391" y="4545"/>
                </a:lnTo>
                <a:cubicBezTo>
                  <a:pt x="1457" y="4005"/>
                  <a:pt x="1636" y="3507"/>
                  <a:pt x="1927" y="3050"/>
                </a:cubicBezTo>
                <a:cubicBezTo>
                  <a:pt x="2217" y="2592"/>
                  <a:pt x="2591" y="2218"/>
                  <a:pt x="3049" y="1927"/>
                </a:cubicBezTo>
                <a:cubicBezTo>
                  <a:pt x="3507" y="1636"/>
                  <a:pt x="4005" y="1457"/>
                  <a:pt x="4545" y="1391"/>
                </a:cubicBezTo>
                <a:lnTo>
                  <a:pt x="4545" y="0"/>
                </a:lnTo>
                <a:moveTo>
                  <a:pt x="4999" y="2273"/>
                </a:moveTo>
                <a:cubicBezTo>
                  <a:pt x="4508" y="2273"/>
                  <a:pt x="4051" y="2397"/>
                  <a:pt x="3627" y="2645"/>
                </a:cubicBezTo>
                <a:cubicBezTo>
                  <a:pt x="3214" y="2887"/>
                  <a:pt x="2887" y="3215"/>
                  <a:pt x="2645" y="3627"/>
                </a:cubicBezTo>
                <a:cubicBezTo>
                  <a:pt x="2396" y="4051"/>
                  <a:pt x="2272" y="4509"/>
                  <a:pt x="2272" y="5000"/>
                </a:cubicBezTo>
                <a:cubicBezTo>
                  <a:pt x="2272" y="5490"/>
                  <a:pt x="2396" y="5948"/>
                  <a:pt x="2645" y="6373"/>
                </a:cubicBezTo>
                <a:cubicBezTo>
                  <a:pt x="2887" y="6785"/>
                  <a:pt x="3214" y="7112"/>
                  <a:pt x="3627" y="7355"/>
                </a:cubicBezTo>
                <a:cubicBezTo>
                  <a:pt x="4051" y="7603"/>
                  <a:pt x="4508" y="7727"/>
                  <a:pt x="4999" y="7727"/>
                </a:cubicBezTo>
                <a:cubicBezTo>
                  <a:pt x="5489" y="7727"/>
                  <a:pt x="5947" y="7603"/>
                  <a:pt x="6371" y="7355"/>
                </a:cubicBezTo>
                <a:cubicBezTo>
                  <a:pt x="6783" y="7112"/>
                  <a:pt x="7111" y="6785"/>
                  <a:pt x="7353" y="6373"/>
                </a:cubicBezTo>
                <a:cubicBezTo>
                  <a:pt x="7601" y="5948"/>
                  <a:pt x="7726" y="5490"/>
                  <a:pt x="7726" y="5000"/>
                </a:cubicBezTo>
                <a:cubicBezTo>
                  <a:pt x="7726" y="4509"/>
                  <a:pt x="7601" y="4051"/>
                  <a:pt x="7353" y="3627"/>
                </a:cubicBezTo>
                <a:cubicBezTo>
                  <a:pt x="7111" y="3215"/>
                  <a:pt x="6783" y="2887"/>
                  <a:pt x="6371" y="2645"/>
                </a:cubicBezTo>
                <a:cubicBezTo>
                  <a:pt x="5947" y="2397"/>
                  <a:pt x="5489" y="2273"/>
                  <a:pt x="4999" y="2273"/>
                </a:cubicBezTo>
                <a:moveTo>
                  <a:pt x="4999" y="4091"/>
                </a:moveTo>
                <a:cubicBezTo>
                  <a:pt x="5162" y="4091"/>
                  <a:pt x="5313" y="4132"/>
                  <a:pt x="5453" y="4214"/>
                </a:cubicBezTo>
                <a:cubicBezTo>
                  <a:pt x="5593" y="4295"/>
                  <a:pt x="5703" y="4405"/>
                  <a:pt x="5785" y="4545"/>
                </a:cubicBezTo>
                <a:cubicBezTo>
                  <a:pt x="5867" y="4685"/>
                  <a:pt x="5908" y="4836"/>
                  <a:pt x="5908" y="5000"/>
                </a:cubicBezTo>
                <a:cubicBezTo>
                  <a:pt x="5908" y="5163"/>
                  <a:pt x="5867" y="5315"/>
                  <a:pt x="5785" y="5455"/>
                </a:cubicBezTo>
                <a:cubicBezTo>
                  <a:pt x="5703" y="5594"/>
                  <a:pt x="5593" y="5704"/>
                  <a:pt x="5453" y="5786"/>
                </a:cubicBezTo>
                <a:cubicBezTo>
                  <a:pt x="5313" y="5868"/>
                  <a:pt x="5162" y="5909"/>
                  <a:pt x="4999" y="5909"/>
                </a:cubicBezTo>
                <a:cubicBezTo>
                  <a:pt x="4835" y="5909"/>
                  <a:pt x="4684" y="5868"/>
                  <a:pt x="4545" y="5786"/>
                </a:cubicBezTo>
                <a:cubicBezTo>
                  <a:pt x="4405" y="5704"/>
                  <a:pt x="4294" y="5594"/>
                  <a:pt x="4213" y="5455"/>
                </a:cubicBezTo>
                <a:cubicBezTo>
                  <a:pt x="4131" y="5315"/>
                  <a:pt x="4090" y="5163"/>
                  <a:pt x="4090" y="5000"/>
                </a:cubicBezTo>
                <a:cubicBezTo>
                  <a:pt x="4090" y="4836"/>
                  <a:pt x="4131" y="4685"/>
                  <a:pt x="4213" y="4545"/>
                </a:cubicBezTo>
                <a:cubicBezTo>
                  <a:pt x="4294" y="4405"/>
                  <a:pt x="4405" y="4295"/>
                  <a:pt x="4545" y="4214"/>
                </a:cubicBezTo>
                <a:cubicBezTo>
                  <a:pt x="4684" y="4132"/>
                  <a:pt x="4835" y="4091"/>
                  <a:pt x="4999" y="4091"/>
                </a:cubicBez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7" name="TextBox 27"/>
          <p:cNvSpPr txBox="1"/>
          <p:nvPr>
            <p:custDataLst>
              <p:tags r:id="rId20"/>
            </p:custDataLst>
          </p:nvPr>
        </p:nvSpPr>
        <p:spPr>
          <a:xfrm>
            <a:off x="580880" y="4849118"/>
            <a:ext cx="523744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市场切入策略</a:t>
            </a:r>
            <a:endParaRPr lang="en-US" sz="1100"/>
          </a:p>
        </p:txBody>
      </p:sp>
      <p:sp>
        <p:nvSpPr>
          <p:cNvPr id="28" name="TextBox 28"/>
          <p:cNvSpPr txBox="1"/>
          <p:nvPr>
            <p:custDataLst>
              <p:tags r:id="rId21"/>
            </p:custDataLst>
          </p:nvPr>
        </p:nvSpPr>
        <p:spPr>
          <a:xfrm>
            <a:off x="580880" y="5068193"/>
            <a:ext cx="5237441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1A1C20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场景聚焦</a:t>
            </a:r>
            <a:endParaRPr lang="en-US" sz="1100"/>
          </a:p>
        </p:txBody>
      </p:sp>
      <p:sp>
        <p:nvSpPr>
          <p:cNvPr id="29" name="TextBox 29"/>
          <p:cNvSpPr txBox="1"/>
          <p:nvPr>
            <p:custDataLst>
              <p:tags r:id="rId22"/>
            </p:custDataLst>
          </p:nvPr>
        </p:nvSpPr>
        <p:spPr>
          <a:xfrm>
            <a:off x="580880" y="5425380"/>
            <a:ext cx="5437415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100" b="0" i="0" strike="noStrike">
                <a:solidFill>
                  <a:srgbClr val="1A1C20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避开宏观旅游市场的红海竞争，首选朋友结伴的周末及短途游，决策链短且协作痛</a:t>
            </a:r>
            <a:endParaRPr lang="en-US" sz="1100"/>
          </a:p>
          <a:p>
            <a:pPr algn="l"/>
            <a:r>
              <a:rPr sz="1100" b="0" i="0" strike="noStrike">
                <a:solidFill>
                  <a:srgbClr val="1A1C20">
                    <a:alpha val="81960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点最为集中</a:t>
            </a:r>
            <a:endParaRPr sz="1100" b="0" i="0" strike="noStrike">
              <a:solidFill>
                <a:srgbClr val="1A1C20">
                  <a:alpha val="81960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30" name="AutoShape 30"/>
          <p:cNvSpPr/>
          <p:nvPr>
            <p:custDataLst>
              <p:tags r:id="rId23"/>
            </p:custDataLst>
          </p:nvPr>
        </p:nvSpPr>
        <p:spPr>
          <a:xfrm>
            <a:off x="580880" y="6311205"/>
            <a:ext cx="5237441" cy="9525"/>
          </a:xfrm>
          <a:prstGeom prst="line">
            <a:avLst/>
          </a:prstGeom>
          <a:ln w="9525">
            <a:solidFill>
              <a:srgbClr val="D4D8DE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TextBox 31"/>
          <p:cNvSpPr txBox="1"/>
          <p:nvPr>
            <p:custDataLst>
              <p:tags r:id="rId24"/>
            </p:custDataLst>
          </p:nvPr>
        </p:nvSpPr>
        <p:spPr>
          <a:xfrm>
            <a:off x="580880" y="6054030"/>
            <a:ext cx="5237441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4A7FD7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周末短途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A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GROWTH STRATEGY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C20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获客策略与营销渠道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352550"/>
            <a:ext cx="9522" cy="649486"/>
          </a:xfrm>
          <a:prstGeom prst="line">
            <a:avLst/>
          </a:prstGeom>
          <a:ln w="9525">
            <a:solidFill>
              <a:srgbClr val="4A7FD7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99925" y="139065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早期获客摒弃传统的买量模式，转而通过旅行创作者合作、社区内容种草与产品内裂变分享，精准触达有明确规划需求的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用户，实现低成本高质量增长。</a:t>
            </a:r>
            <a:endParaRPr sz="1600" b="0" i="1" strike="noStrike">
              <a:solidFill>
                <a:srgbClr val="1A1C20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457086" y="2230636"/>
            <a:ext cx="2675856" cy="4170164"/>
          </a:xfrm>
          <a:prstGeom prst="rect">
            <a:avLst/>
          </a:prstGeom>
          <a:solidFill>
            <a:srgbClr val="EDEEF2">
              <a:alpha val="100000"/>
            </a:srgbClr>
          </a:solidFill>
          <a:ln w="9525">
            <a:solidFill>
              <a:srgbClr val="CDD2DA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457086" y="2230636"/>
            <a:ext cx="2675856" cy="9525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657061" y="24687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188" y="6020"/>
                </a:moveTo>
                <a:cubicBezTo>
                  <a:pt x="2054" y="6333"/>
                  <a:pt x="1943" y="6630"/>
                  <a:pt x="1855" y="6910"/>
                </a:cubicBezTo>
                <a:cubicBezTo>
                  <a:pt x="2395" y="6556"/>
                  <a:pt x="3029" y="6340"/>
                  <a:pt x="3755" y="6260"/>
                </a:cubicBezTo>
                <a:cubicBezTo>
                  <a:pt x="4436" y="6180"/>
                  <a:pt x="5073" y="5953"/>
                  <a:pt x="5666" y="5580"/>
                </a:cubicBezTo>
                <a:cubicBezTo>
                  <a:pt x="6243" y="5213"/>
                  <a:pt x="6691" y="4763"/>
                  <a:pt x="7010" y="4230"/>
                </a:cubicBezTo>
                <a:lnTo>
                  <a:pt x="6210" y="3500"/>
                </a:lnTo>
                <a:lnTo>
                  <a:pt x="7543" y="2290"/>
                </a:lnTo>
                <a:cubicBezTo>
                  <a:pt x="7787" y="2070"/>
                  <a:pt x="8054" y="1676"/>
                  <a:pt x="8343" y="1110"/>
                </a:cubicBezTo>
                <a:cubicBezTo>
                  <a:pt x="6824" y="1323"/>
                  <a:pt x="5550" y="1850"/>
                  <a:pt x="4521" y="2690"/>
                </a:cubicBezTo>
                <a:cubicBezTo>
                  <a:pt x="3551" y="3490"/>
                  <a:pt x="2773" y="4600"/>
                  <a:pt x="2188" y="6020"/>
                </a:cubicBezTo>
                <a:moveTo>
                  <a:pt x="8332" y="3000"/>
                </a:moveTo>
                <a:lnTo>
                  <a:pt x="7776" y="3500"/>
                </a:lnTo>
                <a:lnTo>
                  <a:pt x="8332" y="4000"/>
                </a:lnTo>
                <a:cubicBezTo>
                  <a:pt x="8139" y="4513"/>
                  <a:pt x="7839" y="4996"/>
                  <a:pt x="7432" y="5450"/>
                </a:cubicBezTo>
                <a:cubicBezTo>
                  <a:pt x="6994" y="5930"/>
                  <a:pt x="6483" y="6323"/>
                  <a:pt x="5899" y="6630"/>
                </a:cubicBezTo>
                <a:cubicBezTo>
                  <a:pt x="5269" y="6963"/>
                  <a:pt x="4599" y="7170"/>
                  <a:pt x="3888" y="7250"/>
                </a:cubicBezTo>
                <a:cubicBezTo>
                  <a:pt x="2406" y="7416"/>
                  <a:pt x="1481" y="8333"/>
                  <a:pt x="1111" y="10000"/>
                </a:cubicBezTo>
                <a:lnTo>
                  <a:pt x="0" y="10000"/>
                </a:lnTo>
                <a:lnTo>
                  <a:pt x="33" y="9810"/>
                </a:lnTo>
                <a:cubicBezTo>
                  <a:pt x="203" y="8890"/>
                  <a:pt x="363" y="8153"/>
                  <a:pt x="511" y="7600"/>
                </a:cubicBezTo>
                <a:cubicBezTo>
                  <a:pt x="763" y="6640"/>
                  <a:pt x="1070" y="5780"/>
                  <a:pt x="1433" y="5020"/>
                </a:cubicBezTo>
                <a:cubicBezTo>
                  <a:pt x="1899" y="4060"/>
                  <a:pt x="2466" y="3240"/>
                  <a:pt x="3133" y="2560"/>
                </a:cubicBezTo>
                <a:cubicBezTo>
                  <a:pt x="3910" y="1760"/>
                  <a:pt x="4828" y="1146"/>
                  <a:pt x="5888" y="720"/>
                </a:cubicBezTo>
                <a:cubicBezTo>
                  <a:pt x="7080" y="240"/>
                  <a:pt x="8450" y="0"/>
                  <a:pt x="9998" y="0"/>
                </a:cubicBezTo>
                <a:cubicBezTo>
                  <a:pt x="9442" y="1500"/>
                  <a:pt x="8887" y="2500"/>
                  <a:pt x="8332" y="3000"/>
                </a:cubicBez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>
            <p:custDataLst>
              <p:tags r:id="rId4"/>
            </p:custDataLst>
          </p:nvPr>
        </p:nvSpPr>
        <p:spPr>
          <a:xfrm>
            <a:off x="657061" y="3898702"/>
            <a:ext cx="227590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1C20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创作者与社区内容种草</a:t>
            </a:r>
            <a:endParaRPr lang="en-US" sz="1100"/>
          </a:p>
        </p:txBody>
      </p:sp>
      <p:sp>
        <p:nvSpPr>
          <p:cNvPr id="11" name="TextBox 11"/>
          <p:cNvSpPr txBox="1"/>
          <p:nvPr>
            <p:custDataLst>
              <p:tags r:id="rId5"/>
            </p:custDataLst>
          </p:nvPr>
        </p:nvSpPr>
        <p:spPr>
          <a:xfrm>
            <a:off x="657061" y="4285357"/>
            <a:ext cx="2475880" cy="5789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联合旅行规划及城市漫游创作者，在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TikTok、小红书等平台展示实操案例，</a:t>
            </a:r>
            <a:endParaRPr sz="1000" b="0" i="0" strike="noStrike">
              <a:solidFill>
                <a:srgbClr val="1A1C20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sz="1000" b="0" i="0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吸引自然搜索流量</a:t>
            </a:r>
            <a:endParaRPr sz="1000" b="0" i="0" strike="noStrike">
              <a:solidFill>
                <a:srgbClr val="1A1C20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657061" y="5897909"/>
            <a:ext cx="2275906" cy="9525"/>
          </a:xfrm>
          <a:prstGeom prst="line">
            <a:avLst/>
          </a:prstGeom>
          <a:ln w="9525">
            <a:solidFill>
              <a:srgbClr val="CDD2DA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1"/>
          <p:nvPr>
            <p:custDataLst>
              <p:tags r:id="rId7"/>
            </p:custDataLst>
          </p:nvPr>
        </p:nvSpPr>
        <p:spPr>
          <a:xfrm>
            <a:off x="657061" y="6021734"/>
            <a:ext cx="2275906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4A7FD7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自然搜索流量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3323394" y="2230636"/>
            <a:ext cx="2675856" cy="4170164"/>
          </a:xfrm>
          <a:prstGeom prst="rect">
            <a:avLst/>
          </a:prstGeom>
          <a:solidFill>
            <a:srgbClr val="EDEEF2">
              <a:alpha val="100000"/>
            </a:srgbClr>
          </a:solidFill>
          <a:ln w="9525">
            <a:solidFill>
              <a:srgbClr val="CDD2DA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3323394" y="2230636"/>
            <a:ext cx="2675856" cy="9525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>
            <p:custDataLst>
              <p:tags r:id="rId10"/>
            </p:custDataLst>
          </p:nvPr>
        </p:nvSpPr>
        <p:spPr>
          <a:xfrm>
            <a:off x="3523369" y="24687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4500"/>
                </a:moveTo>
                <a:cubicBezTo>
                  <a:pt x="5452" y="4500"/>
                  <a:pt x="5870" y="4611"/>
                  <a:pt x="6254" y="4835"/>
                </a:cubicBezTo>
                <a:cubicBezTo>
                  <a:pt x="6637" y="5058"/>
                  <a:pt x="6940" y="5361"/>
                  <a:pt x="7164" y="5745"/>
                </a:cubicBezTo>
                <a:cubicBezTo>
                  <a:pt x="7387" y="6128"/>
                  <a:pt x="7499" y="6546"/>
                  <a:pt x="7499" y="7000"/>
                </a:cubicBezTo>
                <a:lnTo>
                  <a:pt x="7499" y="10000"/>
                </a:lnTo>
                <a:lnTo>
                  <a:pt x="6499" y="10000"/>
                </a:lnTo>
                <a:lnTo>
                  <a:pt x="6499" y="7000"/>
                </a:lnTo>
                <a:cubicBezTo>
                  <a:pt x="6499" y="6740"/>
                  <a:pt x="6435" y="6498"/>
                  <a:pt x="6309" y="6275"/>
                </a:cubicBezTo>
                <a:cubicBezTo>
                  <a:pt x="6182" y="6051"/>
                  <a:pt x="6012" y="5871"/>
                  <a:pt x="5799" y="5735"/>
                </a:cubicBezTo>
                <a:cubicBezTo>
                  <a:pt x="5585" y="5598"/>
                  <a:pt x="5349" y="5520"/>
                  <a:pt x="5089" y="5500"/>
                </a:cubicBezTo>
                <a:lnTo>
                  <a:pt x="4999" y="5500"/>
                </a:lnTo>
                <a:cubicBezTo>
                  <a:pt x="4739" y="5500"/>
                  <a:pt x="4497" y="5563"/>
                  <a:pt x="4274" y="5690"/>
                </a:cubicBezTo>
                <a:cubicBezTo>
                  <a:pt x="4050" y="5816"/>
                  <a:pt x="3870" y="5986"/>
                  <a:pt x="3734" y="6200"/>
                </a:cubicBezTo>
                <a:cubicBezTo>
                  <a:pt x="3597" y="6413"/>
                  <a:pt x="3519" y="6650"/>
                  <a:pt x="3499" y="6910"/>
                </a:cubicBezTo>
                <a:lnTo>
                  <a:pt x="3499" y="10000"/>
                </a:lnTo>
                <a:lnTo>
                  <a:pt x="2500" y="10000"/>
                </a:lnTo>
                <a:lnTo>
                  <a:pt x="2500" y="7000"/>
                </a:lnTo>
                <a:cubicBezTo>
                  <a:pt x="2500" y="6546"/>
                  <a:pt x="2611" y="6128"/>
                  <a:pt x="2834" y="5745"/>
                </a:cubicBezTo>
                <a:cubicBezTo>
                  <a:pt x="3057" y="5361"/>
                  <a:pt x="3360" y="5058"/>
                  <a:pt x="3744" y="4835"/>
                </a:cubicBezTo>
                <a:cubicBezTo>
                  <a:pt x="4127" y="4611"/>
                  <a:pt x="4545" y="4500"/>
                  <a:pt x="4999" y="4500"/>
                </a:cubicBezTo>
                <a:moveTo>
                  <a:pt x="1750" y="6000"/>
                </a:moveTo>
                <a:cubicBezTo>
                  <a:pt x="1890" y="6000"/>
                  <a:pt x="2026" y="6016"/>
                  <a:pt x="2160" y="6050"/>
                </a:cubicBezTo>
                <a:cubicBezTo>
                  <a:pt x="2073" y="6303"/>
                  <a:pt x="2020" y="6563"/>
                  <a:pt x="2000" y="6830"/>
                </a:cubicBezTo>
                <a:lnTo>
                  <a:pt x="2000" y="7040"/>
                </a:lnTo>
                <a:cubicBezTo>
                  <a:pt x="1940" y="7020"/>
                  <a:pt x="1880" y="7006"/>
                  <a:pt x="1820" y="7000"/>
                </a:cubicBezTo>
                <a:lnTo>
                  <a:pt x="1750" y="7000"/>
                </a:lnTo>
                <a:cubicBezTo>
                  <a:pt x="1556" y="7000"/>
                  <a:pt x="1388" y="7065"/>
                  <a:pt x="1245" y="7195"/>
                </a:cubicBezTo>
                <a:cubicBezTo>
                  <a:pt x="1101" y="7325"/>
                  <a:pt x="1020" y="7486"/>
                  <a:pt x="1000" y="7680"/>
                </a:cubicBezTo>
                <a:lnTo>
                  <a:pt x="1000" y="7750"/>
                </a:lnTo>
                <a:lnTo>
                  <a:pt x="1000" y="10000"/>
                </a:lnTo>
                <a:lnTo>
                  <a:pt x="0" y="10000"/>
                </a:lnTo>
                <a:lnTo>
                  <a:pt x="0" y="7750"/>
                </a:lnTo>
                <a:cubicBezTo>
                  <a:pt x="0" y="7430"/>
                  <a:pt x="78" y="7136"/>
                  <a:pt x="235" y="6870"/>
                </a:cubicBezTo>
                <a:cubicBezTo>
                  <a:pt x="391" y="6603"/>
                  <a:pt x="603" y="6391"/>
                  <a:pt x="870" y="6235"/>
                </a:cubicBezTo>
                <a:cubicBezTo>
                  <a:pt x="1136" y="6078"/>
                  <a:pt x="1430" y="6000"/>
                  <a:pt x="1750" y="6000"/>
                </a:cubicBezTo>
                <a:moveTo>
                  <a:pt x="8248" y="6000"/>
                </a:moveTo>
                <a:cubicBezTo>
                  <a:pt x="8568" y="6000"/>
                  <a:pt x="8861" y="6078"/>
                  <a:pt x="9128" y="6235"/>
                </a:cubicBezTo>
                <a:cubicBezTo>
                  <a:pt x="9394" y="6391"/>
                  <a:pt x="9606" y="6603"/>
                  <a:pt x="9763" y="6870"/>
                </a:cubicBezTo>
                <a:cubicBezTo>
                  <a:pt x="9919" y="7136"/>
                  <a:pt x="9998" y="7430"/>
                  <a:pt x="9998" y="7750"/>
                </a:cubicBezTo>
                <a:lnTo>
                  <a:pt x="9998" y="10000"/>
                </a:lnTo>
                <a:lnTo>
                  <a:pt x="8998" y="10000"/>
                </a:lnTo>
                <a:lnTo>
                  <a:pt x="8998" y="7750"/>
                </a:lnTo>
                <a:cubicBezTo>
                  <a:pt x="8998" y="7556"/>
                  <a:pt x="8933" y="7388"/>
                  <a:pt x="8803" y="7245"/>
                </a:cubicBezTo>
                <a:cubicBezTo>
                  <a:pt x="8673" y="7101"/>
                  <a:pt x="8511" y="7020"/>
                  <a:pt x="8318" y="7000"/>
                </a:cubicBezTo>
                <a:lnTo>
                  <a:pt x="8248" y="7000"/>
                </a:lnTo>
                <a:cubicBezTo>
                  <a:pt x="8161" y="7000"/>
                  <a:pt x="8078" y="7013"/>
                  <a:pt x="7998" y="7040"/>
                </a:cubicBezTo>
                <a:lnTo>
                  <a:pt x="7998" y="7000"/>
                </a:lnTo>
                <a:cubicBezTo>
                  <a:pt x="7998" y="6673"/>
                  <a:pt x="7948" y="6356"/>
                  <a:pt x="7848" y="6050"/>
                </a:cubicBezTo>
                <a:cubicBezTo>
                  <a:pt x="7974" y="6016"/>
                  <a:pt x="8108" y="6000"/>
                  <a:pt x="8248" y="6000"/>
                </a:cubicBezTo>
                <a:moveTo>
                  <a:pt x="1750" y="3000"/>
                </a:moveTo>
                <a:cubicBezTo>
                  <a:pt x="1976" y="3000"/>
                  <a:pt x="2185" y="3056"/>
                  <a:pt x="2375" y="3170"/>
                </a:cubicBezTo>
                <a:cubicBezTo>
                  <a:pt x="2564" y="3283"/>
                  <a:pt x="2715" y="3435"/>
                  <a:pt x="2829" y="3625"/>
                </a:cubicBezTo>
                <a:cubicBezTo>
                  <a:pt x="2942" y="3815"/>
                  <a:pt x="2999" y="4023"/>
                  <a:pt x="2999" y="4250"/>
                </a:cubicBezTo>
                <a:cubicBezTo>
                  <a:pt x="2999" y="4476"/>
                  <a:pt x="2942" y="4685"/>
                  <a:pt x="2829" y="4875"/>
                </a:cubicBezTo>
                <a:cubicBezTo>
                  <a:pt x="2715" y="5065"/>
                  <a:pt x="2564" y="5216"/>
                  <a:pt x="2375" y="5330"/>
                </a:cubicBezTo>
                <a:cubicBezTo>
                  <a:pt x="2185" y="5443"/>
                  <a:pt x="1976" y="5500"/>
                  <a:pt x="1750" y="5500"/>
                </a:cubicBezTo>
                <a:cubicBezTo>
                  <a:pt x="1523" y="5500"/>
                  <a:pt x="1315" y="5443"/>
                  <a:pt x="1125" y="5330"/>
                </a:cubicBezTo>
                <a:cubicBezTo>
                  <a:pt x="935" y="5216"/>
                  <a:pt x="783" y="5065"/>
                  <a:pt x="670" y="4875"/>
                </a:cubicBezTo>
                <a:cubicBezTo>
                  <a:pt x="556" y="4685"/>
                  <a:pt x="500" y="4476"/>
                  <a:pt x="500" y="4250"/>
                </a:cubicBezTo>
                <a:cubicBezTo>
                  <a:pt x="500" y="4023"/>
                  <a:pt x="556" y="3815"/>
                  <a:pt x="670" y="3625"/>
                </a:cubicBezTo>
                <a:cubicBezTo>
                  <a:pt x="783" y="3435"/>
                  <a:pt x="935" y="3283"/>
                  <a:pt x="1125" y="3170"/>
                </a:cubicBezTo>
                <a:cubicBezTo>
                  <a:pt x="1315" y="3056"/>
                  <a:pt x="1523" y="3000"/>
                  <a:pt x="1750" y="3000"/>
                </a:cubicBezTo>
                <a:moveTo>
                  <a:pt x="8248" y="3000"/>
                </a:moveTo>
                <a:cubicBezTo>
                  <a:pt x="8474" y="3000"/>
                  <a:pt x="8683" y="3056"/>
                  <a:pt x="8873" y="3170"/>
                </a:cubicBezTo>
                <a:cubicBezTo>
                  <a:pt x="9063" y="3283"/>
                  <a:pt x="9214" y="3435"/>
                  <a:pt x="9328" y="3625"/>
                </a:cubicBezTo>
                <a:cubicBezTo>
                  <a:pt x="9441" y="3815"/>
                  <a:pt x="9498" y="4023"/>
                  <a:pt x="9498" y="4250"/>
                </a:cubicBezTo>
                <a:cubicBezTo>
                  <a:pt x="9498" y="4476"/>
                  <a:pt x="9441" y="4685"/>
                  <a:pt x="9328" y="4875"/>
                </a:cubicBezTo>
                <a:cubicBezTo>
                  <a:pt x="9214" y="5065"/>
                  <a:pt x="9063" y="5216"/>
                  <a:pt x="8873" y="5330"/>
                </a:cubicBezTo>
                <a:cubicBezTo>
                  <a:pt x="8683" y="5443"/>
                  <a:pt x="8474" y="5500"/>
                  <a:pt x="8248" y="5500"/>
                </a:cubicBezTo>
                <a:cubicBezTo>
                  <a:pt x="8021" y="5500"/>
                  <a:pt x="7813" y="5443"/>
                  <a:pt x="7623" y="5330"/>
                </a:cubicBezTo>
                <a:cubicBezTo>
                  <a:pt x="7433" y="5216"/>
                  <a:pt x="7282" y="5065"/>
                  <a:pt x="7169" y="4875"/>
                </a:cubicBezTo>
                <a:cubicBezTo>
                  <a:pt x="7055" y="4685"/>
                  <a:pt x="6999" y="4476"/>
                  <a:pt x="6999" y="4250"/>
                </a:cubicBezTo>
                <a:cubicBezTo>
                  <a:pt x="6999" y="4023"/>
                  <a:pt x="7055" y="3815"/>
                  <a:pt x="7169" y="3625"/>
                </a:cubicBezTo>
                <a:cubicBezTo>
                  <a:pt x="7282" y="3435"/>
                  <a:pt x="7433" y="3283"/>
                  <a:pt x="7623" y="3170"/>
                </a:cubicBezTo>
                <a:cubicBezTo>
                  <a:pt x="7813" y="3056"/>
                  <a:pt x="8021" y="3000"/>
                  <a:pt x="8248" y="3000"/>
                </a:cubicBezTo>
                <a:moveTo>
                  <a:pt x="1750" y="4000"/>
                </a:moveTo>
                <a:cubicBezTo>
                  <a:pt x="1683" y="4000"/>
                  <a:pt x="1625" y="4025"/>
                  <a:pt x="1575" y="4075"/>
                </a:cubicBezTo>
                <a:cubicBezTo>
                  <a:pt x="1525" y="4125"/>
                  <a:pt x="1500" y="4183"/>
                  <a:pt x="1500" y="4250"/>
                </a:cubicBezTo>
                <a:cubicBezTo>
                  <a:pt x="1500" y="4316"/>
                  <a:pt x="1525" y="4375"/>
                  <a:pt x="1575" y="4425"/>
                </a:cubicBezTo>
                <a:cubicBezTo>
                  <a:pt x="1625" y="4475"/>
                  <a:pt x="1683" y="4500"/>
                  <a:pt x="1750" y="4500"/>
                </a:cubicBezTo>
                <a:cubicBezTo>
                  <a:pt x="1816" y="4500"/>
                  <a:pt x="1875" y="4475"/>
                  <a:pt x="1925" y="4425"/>
                </a:cubicBezTo>
                <a:cubicBezTo>
                  <a:pt x="1975" y="4375"/>
                  <a:pt x="2000" y="4316"/>
                  <a:pt x="2000" y="4250"/>
                </a:cubicBezTo>
                <a:cubicBezTo>
                  <a:pt x="2000" y="4183"/>
                  <a:pt x="1975" y="4125"/>
                  <a:pt x="1925" y="4075"/>
                </a:cubicBezTo>
                <a:cubicBezTo>
                  <a:pt x="1875" y="4025"/>
                  <a:pt x="1816" y="4000"/>
                  <a:pt x="1750" y="4000"/>
                </a:cubicBezTo>
                <a:moveTo>
                  <a:pt x="8248" y="4000"/>
                </a:moveTo>
                <a:cubicBezTo>
                  <a:pt x="8181" y="4000"/>
                  <a:pt x="8123" y="4025"/>
                  <a:pt x="8073" y="4075"/>
                </a:cubicBezTo>
                <a:cubicBezTo>
                  <a:pt x="8023" y="4125"/>
                  <a:pt x="7998" y="4183"/>
                  <a:pt x="7998" y="4250"/>
                </a:cubicBezTo>
                <a:cubicBezTo>
                  <a:pt x="7998" y="4316"/>
                  <a:pt x="8023" y="4375"/>
                  <a:pt x="8073" y="4425"/>
                </a:cubicBezTo>
                <a:cubicBezTo>
                  <a:pt x="8123" y="4475"/>
                  <a:pt x="8181" y="4500"/>
                  <a:pt x="8248" y="4500"/>
                </a:cubicBezTo>
                <a:cubicBezTo>
                  <a:pt x="8314" y="4500"/>
                  <a:pt x="8373" y="4475"/>
                  <a:pt x="8423" y="4425"/>
                </a:cubicBezTo>
                <a:cubicBezTo>
                  <a:pt x="8473" y="4375"/>
                  <a:pt x="8498" y="4316"/>
                  <a:pt x="8498" y="4250"/>
                </a:cubicBezTo>
                <a:cubicBezTo>
                  <a:pt x="8498" y="4183"/>
                  <a:pt x="8473" y="4125"/>
                  <a:pt x="8423" y="4075"/>
                </a:cubicBezTo>
                <a:cubicBezTo>
                  <a:pt x="8373" y="4025"/>
                  <a:pt x="8314" y="4000"/>
                  <a:pt x="8248" y="4000"/>
                </a:cubicBezTo>
                <a:moveTo>
                  <a:pt x="4999" y="0"/>
                </a:moveTo>
                <a:cubicBezTo>
                  <a:pt x="5359" y="0"/>
                  <a:pt x="5692" y="90"/>
                  <a:pt x="5999" y="270"/>
                </a:cubicBezTo>
                <a:cubicBezTo>
                  <a:pt x="6305" y="450"/>
                  <a:pt x="6549" y="693"/>
                  <a:pt x="6729" y="1000"/>
                </a:cubicBezTo>
                <a:cubicBezTo>
                  <a:pt x="6909" y="1306"/>
                  <a:pt x="6999" y="1640"/>
                  <a:pt x="6999" y="2000"/>
                </a:cubicBezTo>
                <a:cubicBezTo>
                  <a:pt x="6999" y="2360"/>
                  <a:pt x="6909" y="2693"/>
                  <a:pt x="6729" y="3000"/>
                </a:cubicBezTo>
                <a:cubicBezTo>
                  <a:pt x="6549" y="3306"/>
                  <a:pt x="6305" y="3550"/>
                  <a:pt x="5999" y="3730"/>
                </a:cubicBezTo>
                <a:cubicBezTo>
                  <a:pt x="5692" y="3910"/>
                  <a:pt x="5359" y="4000"/>
                  <a:pt x="4999" y="4000"/>
                </a:cubicBezTo>
                <a:cubicBezTo>
                  <a:pt x="4639" y="4000"/>
                  <a:pt x="4305" y="3910"/>
                  <a:pt x="3999" y="3730"/>
                </a:cubicBezTo>
                <a:cubicBezTo>
                  <a:pt x="3692" y="3550"/>
                  <a:pt x="3449" y="3306"/>
                  <a:pt x="3269" y="3000"/>
                </a:cubicBezTo>
                <a:cubicBezTo>
                  <a:pt x="3089" y="2693"/>
                  <a:pt x="2999" y="2360"/>
                  <a:pt x="2999" y="2000"/>
                </a:cubicBezTo>
                <a:cubicBezTo>
                  <a:pt x="2999" y="1640"/>
                  <a:pt x="3089" y="1306"/>
                  <a:pt x="3269" y="1000"/>
                </a:cubicBezTo>
                <a:cubicBezTo>
                  <a:pt x="3449" y="693"/>
                  <a:pt x="3692" y="450"/>
                  <a:pt x="3999" y="270"/>
                </a:cubicBezTo>
                <a:cubicBezTo>
                  <a:pt x="4305" y="90"/>
                  <a:pt x="4639" y="0"/>
                  <a:pt x="4999" y="0"/>
                </a:cubicBezTo>
                <a:moveTo>
                  <a:pt x="4999" y="1000"/>
                </a:moveTo>
                <a:cubicBezTo>
                  <a:pt x="4819" y="1000"/>
                  <a:pt x="4652" y="1045"/>
                  <a:pt x="4499" y="1135"/>
                </a:cubicBezTo>
                <a:cubicBezTo>
                  <a:pt x="4345" y="1225"/>
                  <a:pt x="4224" y="1346"/>
                  <a:pt x="4134" y="1500"/>
                </a:cubicBezTo>
                <a:cubicBezTo>
                  <a:pt x="4044" y="1653"/>
                  <a:pt x="3999" y="1820"/>
                  <a:pt x="3999" y="2000"/>
                </a:cubicBezTo>
                <a:cubicBezTo>
                  <a:pt x="3999" y="2180"/>
                  <a:pt x="4044" y="2346"/>
                  <a:pt x="4134" y="2500"/>
                </a:cubicBezTo>
                <a:cubicBezTo>
                  <a:pt x="4224" y="2653"/>
                  <a:pt x="4345" y="2775"/>
                  <a:pt x="4499" y="2865"/>
                </a:cubicBezTo>
                <a:cubicBezTo>
                  <a:pt x="4652" y="2955"/>
                  <a:pt x="4819" y="3000"/>
                  <a:pt x="4999" y="3000"/>
                </a:cubicBezTo>
                <a:cubicBezTo>
                  <a:pt x="5179" y="3000"/>
                  <a:pt x="5345" y="2955"/>
                  <a:pt x="5499" y="2865"/>
                </a:cubicBezTo>
                <a:cubicBezTo>
                  <a:pt x="5652" y="2775"/>
                  <a:pt x="5774" y="2653"/>
                  <a:pt x="5864" y="2500"/>
                </a:cubicBezTo>
                <a:cubicBezTo>
                  <a:pt x="5954" y="2346"/>
                  <a:pt x="5999" y="2180"/>
                  <a:pt x="5999" y="2000"/>
                </a:cubicBezTo>
                <a:cubicBezTo>
                  <a:pt x="5999" y="1820"/>
                  <a:pt x="5954" y="1653"/>
                  <a:pt x="5864" y="1500"/>
                </a:cubicBezTo>
                <a:cubicBezTo>
                  <a:pt x="5774" y="1346"/>
                  <a:pt x="5652" y="1225"/>
                  <a:pt x="5499" y="1135"/>
                </a:cubicBezTo>
                <a:cubicBezTo>
                  <a:pt x="5345" y="1045"/>
                  <a:pt x="5179" y="1000"/>
                  <a:pt x="4999" y="1000"/>
                </a:cubicBez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7" name="TextBox 17"/>
          <p:cNvSpPr txBox="1"/>
          <p:nvPr>
            <p:custDataLst>
              <p:tags r:id="rId11"/>
            </p:custDataLst>
          </p:nvPr>
        </p:nvSpPr>
        <p:spPr>
          <a:xfrm>
            <a:off x="3523369" y="3898702"/>
            <a:ext cx="227590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1C20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校园与兴趣社群试点</a:t>
            </a:r>
            <a:endParaRPr lang="en-US" sz="1100"/>
          </a:p>
        </p:txBody>
      </p:sp>
      <p:sp>
        <p:nvSpPr>
          <p:cNvPr id="18" name="TextBox 18"/>
          <p:cNvSpPr txBox="1"/>
          <p:nvPr>
            <p:custDataLst>
              <p:tags r:id="rId12"/>
            </p:custDataLst>
          </p:nvPr>
        </p:nvSpPr>
        <p:spPr>
          <a:xfrm>
            <a:off x="3523369" y="4285357"/>
            <a:ext cx="2475880" cy="5789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与户外、摄影等社团负责人合作，提供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免费试用与可复制的行程模板，快速获</a:t>
            </a:r>
            <a:endParaRPr sz="1000" b="0" i="0" strike="noStrike">
              <a:solidFill>
                <a:srgbClr val="1A1C20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sz="1000" b="0" i="0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取高粘性的早期种子群组</a:t>
            </a:r>
            <a:endParaRPr sz="1000" b="0" i="0" strike="noStrike">
              <a:solidFill>
                <a:srgbClr val="1A1C20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3523369" y="5897909"/>
            <a:ext cx="2275906" cy="9525"/>
          </a:xfrm>
          <a:prstGeom prst="line">
            <a:avLst/>
          </a:prstGeom>
          <a:ln w="9525">
            <a:solidFill>
              <a:srgbClr val="CDD2DA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Box 20"/>
          <p:cNvSpPr txBox="1"/>
          <p:nvPr>
            <p:custDataLst>
              <p:tags r:id="rId14"/>
            </p:custDataLst>
          </p:nvPr>
        </p:nvSpPr>
        <p:spPr>
          <a:xfrm>
            <a:off x="3523369" y="6021734"/>
            <a:ext cx="2275906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4A7FD7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高粘性种子群组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15"/>
            </p:custDataLst>
          </p:nvPr>
        </p:nvSpPr>
        <p:spPr>
          <a:xfrm>
            <a:off x="6189702" y="2230636"/>
            <a:ext cx="2675856" cy="4170164"/>
          </a:xfrm>
          <a:prstGeom prst="rect">
            <a:avLst/>
          </a:prstGeom>
          <a:solidFill>
            <a:srgbClr val="EDEEF2">
              <a:alpha val="100000"/>
            </a:srgbClr>
          </a:solidFill>
          <a:ln w="9525">
            <a:solidFill>
              <a:srgbClr val="CDD2DA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AutoShape 22"/>
          <p:cNvSpPr/>
          <p:nvPr>
            <p:custDataLst>
              <p:tags r:id="rId16"/>
            </p:custDataLst>
          </p:nvPr>
        </p:nvSpPr>
        <p:spPr>
          <a:xfrm>
            <a:off x="6189702" y="2230636"/>
            <a:ext cx="2675856" cy="9525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AutoShape 23"/>
          <p:cNvSpPr/>
          <p:nvPr>
            <p:custDataLst>
              <p:tags r:id="rId17"/>
            </p:custDataLst>
          </p:nvPr>
        </p:nvSpPr>
        <p:spPr>
          <a:xfrm>
            <a:off x="6389677" y="24687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877" y="10000"/>
                </a:moveTo>
                <a:lnTo>
                  <a:pt x="4877" y="6765"/>
                </a:lnTo>
                <a:lnTo>
                  <a:pt x="3902" y="6765"/>
                </a:lnTo>
                <a:cubicBezTo>
                  <a:pt x="3349" y="6765"/>
                  <a:pt x="2816" y="6886"/>
                  <a:pt x="2302" y="7129"/>
                </a:cubicBezTo>
                <a:cubicBezTo>
                  <a:pt x="1808" y="7357"/>
                  <a:pt x="1364" y="7684"/>
                  <a:pt x="971" y="8112"/>
                </a:cubicBezTo>
                <a:cubicBezTo>
                  <a:pt x="577" y="8539"/>
                  <a:pt x="256" y="9035"/>
                  <a:pt x="10" y="9600"/>
                </a:cubicBezTo>
                <a:cubicBezTo>
                  <a:pt x="3" y="9435"/>
                  <a:pt x="0" y="9274"/>
                  <a:pt x="0" y="9118"/>
                </a:cubicBezTo>
                <a:cubicBezTo>
                  <a:pt x="0" y="8318"/>
                  <a:pt x="126" y="7553"/>
                  <a:pt x="380" y="6824"/>
                </a:cubicBezTo>
                <a:cubicBezTo>
                  <a:pt x="627" y="6125"/>
                  <a:pt x="975" y="5503"/>
                  <a:pt x="1424" y="4959"/>
                </a:cubicBezTo>
                <a:cubicBezTo>
                  <a:pt x="1872" y="4413"/>
                  <a:pt x="2389" y="3992"/>
                  <a:pt x="2975" y="3694"/>
                </a:cubicBezTo>
                <a:cubicBezTo>
                  <a:pt x="3579" y="3388"/>
                  <a:pt x="4213" y="3235"/>
                  <a:pt x="4877" y="3235"/>
                </a:cubicBezTo>
                <a:lnTo>
                  <a:pt x="4877" y="0"/>
                </a:lnTo>
                <a:lnTo>
                  <a:pt x="9998" y="5000"/>
                </a:lnTo>
                <a:lnTo>
                  <a:pt x="4877" y="10000"/>
                </a:lnTo>
                <a:moveTo>
                  <a:pt x="3892" y="5588"/>
                </a:moveTo>
                <a:lnTo>
                  <a:pt x="3902" y="5588"/>
                </a:lnTo>
                <a:lnTo>
                  <a:pt x="5852" y="5588"/>
                </a:lnTo>
                <a:lnTo>
                  <a:pt x="5852" y="7529"/>
                </a:lnTo>
                <a:lnTo>
                  <a:pt x="8447" y="5000"/>
                </a:lnTo>
                <a:lnTo>
                  <a:pt x="5852" y="2471"/>
                </a:lnTo>
                <a:lnTo>
                  <a:pt x="5852" y="4412"/>
                </a:lnTo>
                <a:lnTo>
                  <a:pt x="4877" y="4412"/>
                </a:lnTo>
                <a:cubicBezTo>
                  <a:pt x="4291" y="4412"/>
                  <a:pt x="3739" y="4557"/>
                  <a:pt x="3219" y="4847"/>
                </a:cubicBezTo>
                <a:cubicBezTo>
                  <a:pt x="2718" y="5137"/>
                  <a:pt x="2286" y="5537"/>
                  <a:pt x="1922" y="6047"/>
                </a:cubicBezTo>
                <a:cubicBezTo>
                  <a:pt x="2552" y="5741"/>
                  <a:pt x="3209" y="5588"/>
                  <a:pt x="3892" y="5588"/>
                </a:cubicBez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TextBox 24"/>
          <p:cNvSpPr txBox="1"/>
          <p:nvPr>
            <p:custDataLst>
              <p:tags r:id="rId18"/>
            </p:custDataLst>
          </p:nvPr>
        </p:nvSpPr>
        <p:spPr>
          <a:xfrm>
            <a:off x="6389677" y="3898702"/>
            <a:ext cx="227590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1C20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产品内裂变与分享链路</a:t>
            </a:r>
            <a:endParaRPr lang="en-US" sz="1100"/>
          </a:p>
        </p:txBody>
      </p:sp>
      <p:sp>
        <p:nvSpPr>
          <p:cNvPr id="25" name="TextBox 25"/>
          <p:cNvSpPr txBox="1"/>
          <p:nvPr>
            <p:custDataLst>
              <p:tags r:id="rId19"/>
            </p:custDataLst>
          </p:nvPr>
        </p:nvSpPr>
        <p:spPr>
          <a:xfrm>
            <a:off x="6389677" y="4285357"/>
            <a:ext cx="2475880" cy="5789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将邀请同行者、复制计划模板和分享行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程设计为产品内增长环节，通过非现金</a:t>
            </a:r>
            <a:endParaRPr sz="1000" b="0" i="0" strike="noStrike">
              <a:solidFill>
                <a:srgbClr val="1A1C20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sz="1000" b="0" i="0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权益激励用户主动传播</a:t>
            </a:r>
            <a:endParaRPr sz="1000" b="0" i="0" strike="noStrike">
              <a:solidFill>
                <a:srgbClr val="1A1C20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26" name="AutoShape 26"/>
          <p:cNvSpPr/>
          <p:nvPr>
            <p:custDataLst>
              <p:tags r:id="rId20"/>
            </p:custDataLst>
          </p:nvPr>
        </p:nvSpPr>
        <p:spPr>
          <a:xfrm>
            <a:off x="6389677" y="5897909"/>
            <a:ext cx="2275906" cy="9525"/>
          </a:xfrm>
          <a:prstGeom prst="line">
            <a:avLst/>
          </a:prstGeom>
          <a:ln w="9525">
            <a:solidFill>
              <a:srgbClr val="CDD2DA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TextBox 27"/>
          <p:cNvSpPr txBox="1"/>
          <p:nvPr>
            <p:custDataLst>
              <p:tags r:id="rId21"/>
            </p:custDataLst>
          </p:nvPr>
        </p:nvSpPr>
        <p:spPr>
          <a:xfrm>
            <a:off x="6389677" y="6021734"/>
            <a:ext cx="2275906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4A7FD7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非现金权益激励</a:t>
            </a:r>
            <a:endParaRPr lang="en-US" sz="1100"/>
          </a:p>
        </p:txBody>
      </p:sp>
      <p:sp>
        <p:nvSpPr>
          <p:cNvPr id="28" name="AutoShape 28"/>
          <p:cNvSpPr/>
          <p:nvPr>
            <p:custDataLst>
              <p:tags r:id="rId22"/>
            </p:custDataLst>
          </p:nvPr>
        </p:nvSpPr>
        <p:spPr>
          <a:xfrm>
            <a:off x="9056011" y="2230636"/>
            <a:ext cx="2675856" cy="4170164"/>
          </a:xfrm>
          <a:prstGeom prst="rect">
            <a:avLst/>
          </a:prstGeom>
          <a:solidFill>
            <a:srgbClr val="EDEEF2">
              <a:alpha val="100000"/>
            </a:srgbClr>
          </a:solidFill>
          <a:ln w="9525">
            <a:solidFill>
              <a:srgbClr val="CDD2DA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AutoShape 29"/>
          <p:cNvSpPr/>
          <p:nvPr>
            <p:custDataLst>
              <p:tags r:id="rId23"/>
            </p:custDataLst>
          </p:nvPr>
        </p:nvSpPr>
        <p:spPr>
          <a:xfrm>
            <a:off x="9056011" y="2230636"/>
            <a:ext cx="2675856" cy="9525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AutoShape 30"/>
          <p:cNvSpPr/>
          <p:nvPr>
            <p:custDataLst>
              <p:tags r:id="rId24"/>
            </p:custDataLst>
          </p:nvPr>
        </p:nvSpPr>
        <p:spPr>
          <a:xfrm>
            <a:off x="9255985" y="24687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7892" y="7195"/>
                </a:moveTo>
                <a:lnTo>
                  <a:pt x="9998" y="9301"/>
                </a:lnTo>
                <a:lnTo>
                  <a:pt x="9299" y="10000"/>
                </a:lnTo>
                <a:lnTo>
                  <a:pt x="7193" y="7894"/>
                </a:lnTo>
                <a:cubicBezTo>
                  <a:pt x="6806" y="8202"/>
                  <a:pt x="6383" y="8438"/>
                  <a:pt x="5924" y="8602"/>
                </a:cubicBezTo>
                <a:cubicBezTo>
                  <a:pt x="5438" y="8772"/>
                  <a:pt x="4940" y="8858"/>
                  <a:pt x="4428" y="8858"/>
                </a:cubicBezTo>
                <a:cubicBezTo>
                  <a:pt x="3628" y="8858"/>
                  <a:pt x="2883" y="8658"/>
                  <a:pt x="2194" y="8258"/>
                </a:cubicBezTo>
                <a:cubicBezTo>
                  <a:pt x="1525" y="7864"/>
                  <a:pt x="997" y="7332"/>
                  <a:pt x="610" y="6663"/>
                </a:cubicBezTo>
                <a:cubicBezTo>
                  <a:pt x="203" y="5974"/>
                  <a:pt x="0" y="5229"/>
                  <a:pt x="0" y="4429"/>
                </a:cubicBezTo>
                <a:cubicBezTo>
                  <a:pt x="0" y="3628"/>
                  <a:pt x="203" y="2883"/>
                  <a:pt x="610" y="2195"/>
                </a:cubicBezTo>
                <a:cubicBezTo>
                  <a:pt x="997" y="1525"/>
                  <a:pt x="1525" y="997"/>
                  <a:pt x="2194" y="610"/>
                </a:cubicBezTo>
                <a:cubicBezTo>
                  <a:pt x="2883" y="203"/>
                  <a:pt x="3628" y="0"/>
                  <a:pt x="4428" y="0"/>
                </a:cubicBezTo>
                <a:cubicBezTo>
                  <a:pt x="5228" y="0"/>
                  <a:pt x="5973" y="203"/>
                  <a:pt x="6662" y="610"/>
                </a:cubicBezTo>
                <a:cubicBezTo>
                  <a:pt x="7331" y="997"/>
                  <a:pt x="7862" y="1525"/>
                  <a:pt x="8256" y="2195"/>
                </a:cubicBezTo>
                <a:cubicBezTo>
                  <a:pt x="8656" y="2883"/>
                  <a:pt x="8856" y="3628"/>
                  <a:pt x="8856" y="4429"/>
                </a:cubicBezTo>
                <a:cubicBezTo>
                  <a:pt x="8856" y="4941"/>
                  <a:pt x="8771" y="5439"/>
                  <a:pt x="8601" y="5925"/>
                </a:cubicBezTo>
                <a:cubicBezTo>
                  <a:pt x="8437" y="6384"/>
                  <a:pt x="8200" y="6807"/>
                  <a:pt x="7892" y="7195"/>
                </a:cubicBezTo>
                <a:moveTo>
                  <a:pt x="6829" y="6900"/>
                </a:moveTo>
                <a:lnTo>
                  <a:pt x="6898" y="6831"/>
                </a:lnTo>
                <a:cubicBezTo>
                  <a:pt x="7206" y="6515"/>
                  <a:pt x="7446" y="6154"/>
                  <a:pt x="7617" y="5748"/>
                </a:cubicBezTo>
                <a:cubicBezTo>
                  <a:pt x="7787" y="5328"/>
                  <a:pt x="7872" y="4888"/>
                  <a:pt x="7872" y="4429"/>
                </a:cubicBezTo>
                <a:cubicBezTo>
                  <a:pt x="7872" y="3805"/>
                  <a:pt x="7714" y="3225"/>
                  <a:pt x="7400" y="2687"/>
                </a:cubicBezTo>
                <a:cubicBezTo>
                  <a:pt x="7098" y="2168"/>
                  <a:pt x="6688" y="1758"/>
                  <a:pt x="6170" y="1457"/>
                </a:cubicBezTo>
                <a:cubicBezTo>
                  <a:pt x="5632" y="1141"/>
                  <a:pt x="5051" y="984"/>
                  <a:pt x="4428" y="984"/>
                </a:cubicBezTo>
                <a:cubicBezTo>
                  <a:pt x="3804" y="984"/>
                  <a:pt x="3224" y="1141"/>
                  <a:pt x="2686" y="1457"/>
                </a:cubicBezTo>
                <a:cubicBezTo>
                  <a:pt x="2168" y="1758"/>
                  <a:pt x="1758" y="2168"/>
                  <a:pt x="1456" y="2687"/>
                </a:cubicBezTo>
                <a:cubicBezTo>
                  <a:pt x="1141" y="3225"/>
                  <a:pt x="984" y="3805"/>
                  <a:pt x="984" y="4429"/>
                </a:cubicBezTo>
                <a:cubicBezTo>
                  <a:pt x="984" y="5052"/>
                  <a:pt x="1141" y="5633"/>
                  <a:pt x="1456" y="6171"/>
                </a:cubicBezTo>
                <a:cubicBezTo>
                  <a:pt x="1758" y="6689"/>
                  <a:pt x="2168" y="7100"/>
                  <a:pt x="2686" y="7402"/>
                </a:cubicBezTo>
                <a:cubicBezTo>
                  <a:pt x="3224" y="7716"/>
                  <a:pt x="3804" y="7874"/>
                  <a:pt x="4428" y="7874"/>
                </a:cubicBezTo>
                <a:cubicBezTo>
                  <a:pt x="4887" y="7874"/>
                  <a:pt x="5327" y="7788"/>
                  <a:pt x="5747" y="7618"/>
                </a:cubicBezTo>
                <a:cubicBezTo>
                  <a:pt x="6153" y="7447"/>
                  <a:pt x="6514" y="7208"/>
                  <a:pt x="6829" y="6900"/>
                </a:cubicBezTo>
              </a:path>
            </a:pathLst>
          </a:custGeom>
          <a:solidFill>
            <a:srgbClr val="4A7FD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1" name="TextBox 31"/>
          <p:cNvSpPr txBox="1"/>
          <p:nvPr>
            <p:custDataLst>
              <p:tags r:id="rId25"/>
            </p:custDataLst>
          </p:nvPr>
        </p:nvSpPr>
        <p:spPr>
          <a:xfrm>
            <a:off x="9255985" y="3898702"/>
            <a:ext cx="2275906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>
                <a:solidFill>
                  <a:srgbClr val="1A1C20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搜索优化与内容营销</a:t>
            </a:r>
            <a:endParaRPr lang="en-US" sz="1100"/>
          </a:p>
        </p:txBody>
      </p:sp>
      <p:sp>
        <p:nvSpPr>
          <p:cNvPr id="32" name="TextBox 32"/>
          <p:cNvSpPr txBox="1"/>
          <p:nvPr>
            <p:custDataLst>
              <p:tags r:id="rId26"/>
            </p:custDataLst>
          </p:nvPr>
        </p:nvSpPr>
        <p:spPr>
          <a:xfrm>
            <a:off x="9255985" y="4285357"/>
            <a:ext cx="2475880" cy="57894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提供城市周末游规划模板、多人预算表</a:t>
            </a:r>
            <a:endParaRPr lang="en-US" sz="1100"/>
          </a:p>
          <a:p>
            <a:pPr algn="l"/>
            <a:r>
              <a:rPr sz="1000" b="0" i="0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等实用指南，精准拦截群组旅行规划相</a:t>
            </a:r>
            <a:endParaRPr sz="1000" b="0" i="0" strike="noStrike">
              <a:solidFill>
                <a:srgbClr val="1A1C20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sz="1000" b="0" i="0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关的长尾搜索需求</a:t>
            </a:r>
            <a:endParaRPr sz="1000" b="0" i="0" strike="noStrike">
              <a:solidFill>
                <a:srgbClr val="1A1C20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33" name="AutoShape 33"/>
          <p:cNvSpPr/>
          <p:nvPr>
            <p:custDataLst>
              <p:tags r:id="rId27"/>
            </p:custDataLst>
          </p:nvPr>
        </p:nvSpPr>
        <p:spPr>
          <a:xfrm>
            <a:off x="9255985" y="5897909"/>
            <a:ext cx="2275906" cy="9525"/>
          </a:xfrm>
          <a:prstGeom prst="line">
            <a:avLst/>
          </a:prstGeom>
          <a:ln w="9525">
            <a:solidFill>
              <a:srgbClr val="CDD2DA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TextBox 34"/>
          <p:cNvSpPr txBox="1"/>
          <p:nvPr>
            <p:custDataLst>
              <p:tags r:id="rId28"/>
            </p:custDataLst>
          </p:nvPr>
        </p:nvSpPr>
        <p:spPr>
          <a:xfrm>
            <a:off x="9255985" y="6021734"/>
            <a:ext cx="2275906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4A7FD7">
                    <a:alpha val="100000"/>
                  </a:srgbClr>
                </a:solidFill>
                <a:latin typeface="Inter" panose="02000503000000020004"/>
                <a:ea typeface="Inter" panose="02000503000000020004"/>
                <a:cs typeface="Inter" panose="02000503000000020004"/>
              </a:rPr>
              <a:t>长尾搜索拦截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0E0E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8FA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Business Model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7429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000" b="1" i="0" strike="noStrike">
                <a:solidFill>
                  <a:srgbClr val="1A1C20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商业模式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295400"/>
            <a:ext cx="9522" cy="649486"/>
          </a:xfrm>
          <a:prstGeom prst="line">
            <a:avLst/>
          </a:prstGeom>
          <a:ln w="9525">
            <a:solidFill>
              <a:srgbClr val="4A7FD7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1"/>
          <p:nvPr/>
        </p:nvSpPr>
        <p:spPr>
          <a:xfrm>
            <a:off x="580880" y="13335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商业变现采取"免费基础版验证+高级功能订阅"的渐进路径。</a:t>
            </a:r>
            <a:r>
              <a:rPr lang="zh-CN" altLang="en-US" sz="1600" b="0" i="1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若</a:t>
            </a:r>
            <a:r>
              <a:rPr lang="en-US" sz="1600" b="0" i="1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在纯订阅模式下尚未达到盈亏平衡，</a:t>
            </a:r>
            <a:endParaRPr lang="en-US" sz="1100"/>
          </a:p>
          <a:p>
            <a:pPr algn="l"/>
            <a:r>
              <a:rPr sz="1600" b="0" i="1" strike="noStrike">
                <a:solidFill>
                  <a:srgbClr val="1A1C20">
                    <a:alpha val="78039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需通过提高留存或探索团队版收入来优化单位经济模型。</a:t>
            </a:r>
            <a:endParaRPr sz="1600" b="0" i="1" strike="noStrike">
              <a:solidFill>
                <a:srgbClr val="1A1C20">
                  <a:alpha val="78039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457200" y="2116455"/>
            <a:ext cx="8178165" cy="2075815"/>
          </a:xfrm>
          <a:prstGeom prst="rect">
            <a:avLst/>
          </a:prstGeom>
          <a:solidFill>
            <a:srgbClr val="ECEEF2">
              <a:alpha val="100000"/>
            </a:srgbClr>
          </a:solidFill>
          <a:ln w="9525">
            <a:solidFill>
              <a:srgbClr val="D0D4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>
            <p:custDataLst>
              <p:tags r:id="rId2"/>
            </p:custDataLst>
          </p:nvPr>
        </p:nvSpPr>
        <p:spPr>
          <a:xfrm>
            <a:off x="457200" y="2067560"/>
            <a:ext cx="8178165" cy="58420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Box 10"/>
          <p:cNvSpPr txBox="1"/>
          <p:nvPr>
            <p:custDataLst>
              <p:tags r:id="rId3"/>
            </p:custDataLst>
          </p:nvPr>
        </p:nvSpPr>
        <p:spPr>
          <a:xfrm>
            <a:off x="657061" y="2805560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id="11" name="TextBox 11"/>
          <p:cNvSpPr txBox="1"/>
          <p:nvPr>
            <p:custDataLst>
              <p:tags r:id="rId4"/>
            </p:custDataLst>
          </p:nvPr>
        </p:nvSpPr>
        <p:spPr>
          <a:xfrm>
            <a:off x="909320" y="2824480"/>
            <a:ext cx="6474460" cy="10909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C20">
                    <a:alpha val="87843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渐进式收入路径：</a:t>
            </a:r>
            <a:endParaRPr lang="en-US" sz="1200" b="1" i="0" strike="noStrike">
              <a:solidFill>
                <a:srgbClr val="1A1C20">
                  <a:alpha val="87843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>
              <a:defRPr/>
            </a:pPr>
            <a:r>
              <a:rPr sz="1600" b="0" i="0" strike="noStrike">
                <a:solidFill>
                  <a:srgbClr val="1A1C20">
                    <a:alpha val="87843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阶段一免费基础版降低门槛验证激活</a:t>
            </a:r>
            <a:r>
              <a:rPr lang="zh-CN" sz="1600" b="0" i="0" strike="noStrike">
                <a:solidFill>
                  <a:srgbClr val="1A1C20">
                    <a:alpha val="87843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；</a:t>
            </a:r>
            <a:endParaRPr lang="en-US" sz="1600"/>
          </a:p>
          <a:p>
            <a:pPr algn="l"/>
            <a:r>
              <a:rPr sz="1600" b="0" i="0" strike="noStrike">
                <a:solidFill>
                  <a:srgbClr val="1A1C20">
                    <a:alpha val="87843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阶段二测试高级行程功能订阅；</a:t>
            </a:r>
            <a:endParaRPr sz="1600" b="0" i="0" strike="noStrike">
              <a:solidFill>
                <a:srgbClr val="1A1C20">
                  <a:alpha val="87843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sz="1600" b="0" i="0" strike="noStrike">
                <a:solidFill>
                  <a:srgbClr val="1A1C20">
                    <a:alpha val="87843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阶段三评估透明标注的目的地合作</a:t>
            </a:r>
            <a:endParaRPr sz="1600" b="0" i="0" strike="noStrike">
              <a:solidFill>
                <a:srgbClr val="1A1C20">
                  <a:alpha val="87843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5"/>
            </p:custDataLst>
          </p:nvPr>
        </p:nvSpPr>
        <p:spPr>
          <a:xfrm>
            <a:off x="457200" y="4344035"/>
            <a:ext cx="8178165" cy="2056765"/>
          </a:xfrm>
          <a:prstGeom prst="rect">
            <a:avLst/>
          </a:prstGeom>
          <a:solidFill>
            <a:srgbClr val="ECEEF2">
              <a:alpha val="100000"/>
            </a:srgbClr>
          </a:solidFill>
          <a:ln w="9525">
            <a:solidFill>
              <a:srgbClr val="D0D4DB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1"/>
          <p:nvPr>
            <p:custDataLst>
              <p:tags r:id="rId6"/>
            </p:custDataLst>
          </p:nvPr>
        </p:nvSpPr>
        <p:spPr>
          <a:xfrm>
            <a:off x="657061" y="5014465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1A1C20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id="14" name="TextBox 14"/>
          <p:cNvSpPr txBox="1"/>
          <p:nvPr>
            <p:custDataLst>
              <p:tags r:id="rId7"/>
            </p:custDataLst>
          </p:nvPr>
        </p:nvSpPr>
        <p:spPr>
          <a:xfrm>
            <a:off x="909320" y="5033645"/>
            <a:ext cx="5480050" cy="115506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A1C20">
                    <a:alpha val="87843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核心经营指标监控：</a:t>
            </a:r>
            <a:endParaRPr lang="en-US" sz="1200" b="1" i="0" strike="noStrike">
              <a:solidFill>
                <a:srgbClr val="1A1C20">
                  <a:alpha val="87843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>
              <a:defRPr/>
            </a:pPr>
            <a:r>
              <a:rPr sz="1600" b="0" i="0" strike="noStrike">
                <a:solidFill>
                  <a:srgbClr val="1A1C20">
                    <a:alpha val="87843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重点追踪激活旅行数、邀请接受率、</a:t>
            </a:r>
            <a:endParaRPr lang="en-US" sz="1600"/>
          </a:p>
          <a:p>
            <a:pPr algn="l"/>
            <a:r>
              <a:rPr sz="1600" b="0" i="0" strike="noStrike">
                <a:solidFill>
                  <a:srgbClr val="1A1C20">
                    <a:alpha val="87843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协作完成率及组织者90天复用率，</a:t>
            </a:r>
            <a:endParaRPr sz="1600" b="0" i="0" strike="noStrike">
              <a:solidFill>
                <a:srgbClr val="1A1C20">
                  <a:alpha val="87843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  <a:p>
            <a:pPr algn="l"/>
            <a:r>
              <a:rPr sz="1600" b="0" i="0" strike="noStrike">
                <a:solidFill>
                  <a:srgbClr val="1A1C20">
                    <a:alpha val="87843"/>
                  </a:srgbClr>
                </a:solidFill>
                <a:latin typeface="FZYaYiHei GB18030L2 R" panose="02000500000000000000" charset="-122"/>
                <a:ea typeface="FZYaYiHei GB18030L2 R" panose="02000500000000000000" charset="-122"/>
                <a:cs typeface="FZYaYiHei GB18030L2 R" panose="02000500000000000000" charset="-122"/>
              </a:rPr>
              <a:t>以旅行生命周期指标替代单纯月活</a:t>
            </a:r>
            <a:endParaRPr sz="1600" b="0" i="0" strike="noStrike">
              <a:solidFill>
                <a:srgbClr val="1A1C20">
                  <a:alpha val="87843"/>
                </a:srgbClr>
              </a:solidFill>
              <a:latin typeface="FZYaYiHei GB18030L2 R" panose="02000500000000000000" charset="-122"/>
              <a:ea typeface="FZYaYiHei GB18030L2 R" panose="02000500000000000000" charset="-122"/>
              <a:cs typeface="FZYaYiHei GB18030L2 R" panose="020005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>
            <a:off x="3175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1"/>
          <p:nvPr/>
        </p:nvSpPr>
        <p:spPr>
          <a:xfrm>
            <a:off x="2386235" y="2766120"/>
            <a:ext cx="7416484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sz="5400" b="1" i="0" strike="noStrike">
                <a:solidFill>
                  <a:srgbClr val="F7F8FA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感谢聆听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1865690" y="3787080"/>
            <a:ext cx="845757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0.6522834645669,&quot;left&quot;:433.39157480314964,&quot;top&quot;:196.72267716535433,&quot;width&quot;:478.97787401574794}"/>
</p:tagLst>
</file>

<file path=ppt/tags/tag2.xml><?xml version="1.0" encoding="utf-8"?>
<p:tagLst xmlns:p="http://schemas.openxmlformats.org/presentationml/2006/main">
  <p:tag name="KSO_WM_DIAGRAM_VIRTUALLY_FRAME" val="{&quot;height&quot;:280.6522834645669,&quot;left&quot;:433.39157480314964,&quot;top&quot;:196.72267716535433,&quot;width&quot;:478.97787401574794}"/>
</p:tagLst>
</file>

<file path=ppt/tags/tag3.xml><?xml version="1.0" encoding="utf-8"?>
<p:tagLst xmlns:p="http://schemas.openxmlformats.org/presentationml/2006/main">
  <p:tag name="KSO_WM_DIAGRAM_VIRTUALLY_FRAME" val="{&quot;height&quot;:280.6522834645669,&quot;left&quot;:433.39157480314964,&quot;top&quot;:196.72267716535433,&quot;width&quot;:478.97787401574794}"/>
</p:tagLst>
</file>

<file path=ppt/tags/tag4.xml><?xml version="1.0" encoding="utf-8"?>
<p:tagLst xmlns:p="http://schemas.openxmlformats.org/presentationml/2006/main">
  <p:tag name="KSO_WM_DIAGRAM_VIRTUALLY_FRAME" val="{&quot;height&quot;:280.6522834645669,&quot;left&quot;:433.39157480314964,&quot;top&quot;:196.72267716535433,&quot;width&quot;:478.97787401574794}"/>
</p:tagLst>
</file>

<file path=ppt/tags/tag5.xml><?xml version="1.0" encoding="utf-8"?>
<p:tagLst xmlns:p="http://schemas.openxmlformats.org/presentationml/2006/main">
  <p:tag name="KSO_WM_DIAGRAM_VIRTUALLY_FRAME" val="{&quot;height&quot;:280.6522834645669,&quot;left&quot;:433.39157480314964,&quot;top&quot;:196.72267716535433,&quot;width&quot;:478.97787401574794}"/>
</p:tagLst>
</file>

<file path=ppt/tags/tag6.xml><?xml version="1.0" encoding="utf-8"?>
<p:tagLst xmlns:p="http://schemas.openxmlformats.org/presentationml/2006/main">
  <p:tag name="KSO_WM_DIAGRAM_VIRTUALLY_FRAME" val="{&quot;height&quot;:280.6522834645669,&quot;left&quot;:433.39157480314964,&quot;top&quot;:196.72267716535433,&quot;width&quot;:478.97787401574794}"/>
</p:tagLst>
</file>

<file path=ppt/tags/tag7.xml><?xml version="1.0" encoding="utf-8"?>
<p:tagLst xmlns:p="http://schemas.openxmlformats.org/presentationml/2006/main">
  <p:tag name="KSO_WM_DIAGRAM_VIRTUALLY_FRAME" val="{&quot;height&quot;:280.6522834645669,&quot;left&quot;:433.39157480314964,&quot;top&quot;:196.72267716535433,&quot;width&quot;:478.97787401574794}"/>
</p:tagLst>
</file>

<file path=ppt/tags/tag8.xml><?xml version="1.0" encoding="utf-8"?>
<p:tagLst xmlns:p="http://schemas.openxmlformats.org/presentationml/2006/main">
  <p:tag name="KSO_WM_DIAGRAM_VIRTUALLY_FRAME" val="{&quot;height&quot;:280.6522834645669,&quot;left&quot;:433.39157480314964,&quot;top&quot;:196.72267716535433,&quot;width&quot;:478.97787401574794}"/>
</p:tagLst>
</file>

<file path=ppt/tags/tag9.xml><?xml version="1.0" encoding="utf-8"?>
<p:tagLst xmlns:p="http://schemas.openxmlformats.org/presentationml/2006/main">
  <p:tag name="KSO_WM_DIAGRAM_VIRTUALLY_FRAME" val="{&quot;height&quot;:280.6522834645669,&quot;left&quot;:433.39157480314964,&quot;top&quot;:196.72267716535433,&quot;width&quot;:478.97787401574794}"/>
</p:tagLst>
</file>

<file path=ppt/tags/tag10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11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12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13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14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15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16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17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18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19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20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21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22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23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24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25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26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27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28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29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30.xml><?xml version="1.0" encoding="utf-8"?>
<p:tagLst xmlns:p="http://schemas.openxmlformats.org/presentationml/2006/main">
  <p:tag name="KSO_WM_DIAGRAM_VIRTUALLY_FRAME" val="{&quot;height&quot;:343.57023622047257,&quot;left&quot;:35.991023622047244,&quot;top&quot;:174.14062992125986,&quot;width&quot;:887.8089763779528}"/>
</p:tagLst>
</file>

<file path=ppt/tags/tag31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32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33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34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35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36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37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38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39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40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41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42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43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44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45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46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47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48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49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50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51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52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53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54.xml><?xml version="1.0" encoding="utf-8"?>
<p:tagLst xmlns:p="http://schemas.openxmlformats.org/presentationml/2006/main">
  <p:tag name="KSO_WM_DIAGRAM_VIRTUALLY_FRAME" val="{&quot;height&quot;:363.6093700787402,&quot;left&quot;:29.992519685039372,&quot;top&quot;:146.39062992125986,&quot;width&quot;:899.7749606299212}"/>
</p:tagLst>
</file>

<file path=ppt/tags/tag55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56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57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58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59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60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61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62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63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64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65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66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67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68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69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70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71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72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73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74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75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76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77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78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79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80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81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82.xml><?xml version="1.0" encoding="utf-8"?>
<p:tagLst xmlns:p="http://schemas.openxmlformats.org/presentationml/2006/main">
  <p:tag name="KSO_WM_DIAGRAM_VIRTUALLY_FRAME" val="{&quot;height&quot;:328.3593700787402,&quot;left&quot;:35.991023622047244,&quot;top&quot;:175.64062992125986,&quot;width&quot;:887.778031496063}"/>
</p:tagLst>
</file>

<file path=ppt/tags/tag83.xml><?xml version="1.0" encoding="utf-8"?>
<p:tagLst xmlns:p="http://schemas.openxmlformats.org/presentationml/2006/main">
  <p:tag name="KSO_WM_DIAGRAM_VIRTUALLY_FRAME" val="{&quot;height&quot;:341.2,&quot;left&quot;:35.991023622047244,&quot;top&quot;:162.8,&quot;width&quot;:643.9589763779528}"/>
</p:tagLst>
</file>

<file path=ppt/tags/tag84.xml><?xml version="1.0" encoding="utf-8"?>
<p:tagLst xmlns:p="http://schemas.openxmlformats.org/presentationml/2006/main">
  <p:tag name="KSO_WM_DIAGRAM_VIRTUALLY_FRAME" val="{&quot;height&quot;:341.2,&quot;left&quot;:35.991023622047244,&quot;top&quot;:162.8,&quot;width&quot;:643.9589763779528}"/>
</p:tagLst>
</file>

<file path=ppt/tags/tag85.xml><?xml version="1.0" encoding="utf-8"?>
<p:tagLst xmlns:p="http://schemas.openxmlformats.org/presentationml/2006/main">
  <p:tag name="KSO_WM_DIAGRAM_VIRTUALLY_FRAME" val="{&quot;height&quot;:341.2,&quot;left&quot;:35.991023622047244,&quot;top&quot;:162.8,&quot;width&quot;:643.9589763779528}"/>
</p:tagLst>
</file>

<file path=ppt/tags/tag86.xml><?xml version="1.0" encoding="utf-8"?>
<p:tagLst xmlns:p="http://schemas.openxmlformats.org/presentationml/2006/main">
  <p:tag name="KSO_WM_DIAGRAM_VIRTUALLY_FRAME" val="{&quot;height&quot;:341.2,&quot;left&quot;:35.991023622047244,&quot;top&quot;:162.8,&quot;width&quot;:643.9589763779528}"/>
</p:tagLst>
</file>

<file path=ppt/tags/tag87.xml><?xml version="1.0" encoding="utf-8"?>
<p:tagLst xmlns:p="http://schemas.openxmlformats.org/presentationml/2006/main">
  <p:tag name="KSO_WM_DIAGRAM_VIRTUALLY_FRAME" val="{&quot;height&quot;:341.2,&quot;left&quot;:35.991023622047244,&quot;top&quot;:162.8,&quot;width&quot;:643.9589763779528}"/>
</p:tagLst>
</file>

<file path=ppt/tags/tag88.xml><?xml version="1.0" encoding="utf-8"?>
<p:tagLst xmlns:p="http://schemas.openxmlformats.org/presentationml/2006/main">
  <p:tag name="KSO_WM_DIAGRAM_VIRTUALLY_FRAME" val="{&quot;height&quot;:341.2,&quot;left&quot;:35.991023622047244,&quot;top&quot;:162.8,&quot;width&quot;:643.9589763779528}"/>
</p:tagLst>
</file>

<file path=ppt/tags/tag89.xml><?xml version="1.0" encoding="utf-8"?>
<p:tagLst xmlns:p="http://schemas.openxmlformats.org/presentationml/2006/main">
  <p:tag name="KSO_WM_DIAGRAM_VIRTUALLY_FRAME" val="{&quot;height&quot;:341.2,&quot;left&quot;:35.991023622047244,&quot;top&quot;:162.8,&quot;width&quot;:643.9589763779528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1850</Words>
  <Application>WPS 演示</Application>
  <PresentationFormat>宽屏</PresentationFormat>
  <Paragraphs>200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Arial Unicode MS</vt:lpstr>
      <vt:lpstr>Calibri</vt:lpstr>
      <vt:lpstr>微软雅黑</vt:lpstr>
      <vt:lpstr>Alibaba PuHuiTi 3.0 55 Regular</vt:lpstr>
      <vt:lpstr>Segoe Print</vt:lpstr>
      <vt:lpstr>FZYaYiHei GB18030L2 R</vt:lpstr>
      <vt:lpstr>Inter</vt:lpstr>
      <vt:lpstr>DejaVu Math TeX Gyre</vt:lpstr>
      <vt:lpstr>"FZYaYiHei GB18030L2 R", sans-serif</vt:lpstr>
      <vt:lpstr>Inter, sans-serif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</dc:creator>
  <cp:lastModifiedBy>汪暄晨</cp:lastModifiedBy>
  <cp:revision>6</cp:revision>
  <dcterms:created xsi:type="dcterms:W3CDTF">2023-08-09T12:44:00Z</dcterms:created>
  <dcterms:modified xsi:type="dcterms:W3CDTF">2026-10-20T07:34:19Z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F04E471D6516468188ED91C790171A6B_12</vt:lpwstr>
  </property>
</Properties>
</file>